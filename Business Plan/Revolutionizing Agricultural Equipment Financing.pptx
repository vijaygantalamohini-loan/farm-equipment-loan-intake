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svg" ContentType="image/svg+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21"/>
  </p:notesMasterIdLst>
  <p:sldSz cx="12192000" cy="6858000" type="custom"/>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snapToObjects="1">
      <p:cViewPr varScale="1">
        <p:scale>
          <a:sx n="119" d="100"/>
          <a:sy n="119" d="100"/>
        </p:scale>
        <p:origin x="3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  <Relationship Id="rId1" Target="slideMasters/slideMaster1.xml" Type="http://schemas.openxmlformats.org/officeDocument/2006/relationships/slideMaster"/>  <Relationship Id="rId2" Target="slides/slide1.xml" Type="http://schemas.openxmlformats.org/officeDocument/2006/relationships/slide"/>  <Relationship Id="rId3" Target="slides/slide2.xml" Type="http://schemas.openxmlformats.org/officeDocument/2006/relationships/slide"/>  <Relationship Id="rId4" Target="slides/slide3.xml" Type="http://schemas.openxmlformats.org/officeDocument/2006/relationships/slide"/>  <Relationship Id="rId5" Target="slides/slide4.xml" Type="http://schemas.openxmlformats.org/officeDocument/2006/relationships/slide"/>  <Relationship Id="rId6" Target="slides/slide5.xml" Type="http://schemas.openxmlformats.org/officeDocument/2006/relationships/slide"/>  <Relationship Id="rId7" Target="slides/slide6.xml" Type="http://schemas.openxmlformats.org/officeDocument/2006/relationships/slide"/>  <Relationship Id="rId8" Target="slides/slide7.xml" Type="http://schemas.openxmlformats.org/officeDocument/2006/relationships/slide"/>  <Relationship Id="rId9" Target="slides/slide8.xml" Type="http://schemas.openxmlformats.org/officeDocument/2006/relationships/slide"/>  <Relationship Id="rId10" Target="slides/slide9.xml" Type="http://schemas.openxmlformats.org/officeDocument/2006/relationships/slide"/>  <Relationship Id="rId11" Target="slides/slide10.xml" Type="http://schemas.openxmlformats.org/officeDocument/2006/relationships/slide"/>  <Relationship Id="rId12" Target="slides/slide11.xml" Type="http://schemas.openxmlformats.org/officeDocument/2006/relationships/slide"/>  <Relationship Id="rId13" Target="slides/slide12.xml" Type="http://schemas.openxmlformats.org/officeDocument/2006/relationships/slide"/>  <Relationship Id="rId14" Target="slides/slide13.xml" Type="http://schemas.openxmlformats.org/officeDocument/2006/relationships/slide"/>  <Relationship Id="rId15" Target="slides/slide14.xml" Type="http://schemas.openxmlformats.org/officeDocument/2006/relationships/slide"/>  <Relationship Id="rId16" Target="slides/slide15.xml" Type="http://schemas.openxmlformats.org/officeDocument/2006/relationships/slide"/>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0" Type="http://schemas.openxmlformats.org/officeDocument/2006/relationships/tableStyles" Target="tableStyles.xml"/>  <Relationship Id="rId21" Type="http://schemas.openxmlformats.org/officeDocument/2006/relationships/notesMaster" Target="notesMasters/notesMaster1.xml"/></Relationships>
</file>

<file path=ppt/notesMasters/_rels/notesMaster1.xml.rels><?xml version="1.0" encoding="UTF-8"?>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smtClean="0"/>
              <a:t>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smtClean="0"/>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ustDataLst/>
  </p:cSld>
  <p:clrMapOvr>
    <a:masterClrMapping/>
  </p:clrMapOvr>
</p:sldLayout>
</file>

<file path=ppt/slideMasters/_rels/slideMaster1.xml.rels><?xml version="1.0" encoding="UTF-8" standalone="yes"?><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media/image1.png" Type="http://schemas.openxmlformats.org/officeDocument/2006/relationships/image"/><Relationship Id="rId2" Target="../slideLayouts/slideLayout1.xml" Type="http://schemas.openxmlformats.org/officeDocument/2006/relationships/slideLayout"/><Relationship Id="rId3" Target="../notesSlides/notesSlide1.xml" Type="http://schemas.openxmlformats.org/officeDocument/2006/relationships/notesSlide"/></Relationships>
</file>

<file path=ppt/slides/_rels/slide2.xml.rels><?xml version="1.0" encoding="UTF-8" standalone="yes"?><Relationships xmlns="http://schemas.openxmlformats.org/package/2006/relationships"><Relationship Id="rId1" Target="../media/image2.png" Type="http://schemas.openxmlformats.org/officeDocument/2006/relationships/image"/><Relationship Id="rId2" Target="../media/image3.sv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slideLayouts/slideLayout1.xml" Type="http://schemas.openxmlformats.org/officeDocument/2006/relationships/slideLayout"/><Relationship Id="rId8" Target="../notesSlides/notesSlide2.xml" Type="http://schemas.openxmlformats.org/officeDocument/2006/relationships/notesSlide"/></Relationships>
</file>

<file path=ppt/slides/_rels/slide3.xml.rels><?xml version="1.0" encoding="UTF-8" standalone="yes"?><Relationships xmlns="http://schemas.openxmlformats.org/package/2006/relationships"><Relationship Id="rId1" Target="../media/image8.png" Type="http://schemas.openxmlformats.org/officeDocument/2006/relationships/image"/><Relationship Id="rId2" Target="../slideLayouts/slideLayout1.xml" Type="http://schemas.openxmlformats.org/officeDocument/2006/relationships/slideLayout"/><Relationship Id="rId3" Target="../notesSlides/notesSlide3.xml" Type="http://schemas.openxmlformats.org/officeDocument/2006/relationships/notesSlide"/></Relationships>
</file>

<file path=ppt/slides/_rels/slide4.xml.rels><?xml version="1.0" encoding="UTF-8" standalone="yes"?><Relationships xmlns="http://schemas.openxmlformats.org/package/2006/relationships"><Relationship Id="rId1" Target="../slideLayouts/slideLayout1.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<Relationships xmlns="http://schemas.openxmlformats.org/package/2006/relationships"><Relationship Id="rId1" Target="../media/image9.png" Type="http://schemas.openxmlformats.org/officeDocument/2006/relationships/image"/><Relationship Id="rId2" Target="../media/image10.sv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slideLayouts/slideLayout1.xml" Type="http://schemas.openxmlformats.org/officeDocument/2006/relationships/slideLayout"/><Relationship Id="rId6" Target="../notesSlides/notesSlide5.xml" Type="http://schemas.openxmlformats.org/officeDocument/2006/relationships/notesSlide"/></Relationships>
</file>

<file path=ppt/slides/_rels/slide6.xml.rels><?xml version="1.0" encoding="UTF-8" standalone="yes"?><Relationships xmlns="http://schemas.openxmlformats.org/package/2006/relationships"><Relationship Id="rId1" Target="../media/image13.png" Type="http://schemas.openxmlformats.org/officeDocument/2006/relationships/image"/><Relationship Id="rId2" Target="../media/image14.sv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 Id="rId10" Target="../media/image22.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25.png" Type="http://schemas.openxmlformats.org/officeDocument/2006/relationships/image"/><Relationship Id="rId14" Target="../media/image26.svg" Type="http://schemas.openxmlformats.org/officeDocument/2006/relationships/image"/><Relationship Id="rId15" Target="../media/image27.png" Type="http://schemas.openxmlformats.org/officeDocument/2006/relationships/image"/><Relationship Id="rId16" Target="../media/image28.svg" Type="http://schemas.openxmlformats.org/officeDocument/2006/relationships/image"/><Relationship Id="rId17" Target="../media/image29.png" Type="http://schemas.openxmlformats.org/officeDocument/2006/relationships/image"/><Relationship Id="rId18" Target="../media/image30.svg" Type="http://schemas.openxmlformats.org/officeDocument/2006/relationships/image"/><Relationship Id="rId19" Target="../media/image31.png" Type="http://schemas.openxmlformats.org/officeDocument/2006/relationships/image"/><Relationship Id="rId20" Target="../media/image32.svg" Type="http://schemas.openxmlformats.org/officeDocument/2006/relationships/image"/><Relationship Id="rId21" Target="../media/image33.png" Type="http://schemas.openxmlformats.org/officeDocument/2006/relationships/image"/><Relationship Id="rId22" Target="../media/image34.svg" Type="http://schemas.openxmlformats.org/officeDocument/2006/relationships/image"/><Relationship Id="rId23" Target="../slideLayouts/slideLayout1.xml" Type="http://schemas.openxmlformats.org/officeDocument/2006/relationships/slideLayout"/><Relationship Id="rId24" Target="../notesSlides/notesSlide6.xml" Type="http://schemas.openxmlformats.org/officeDocument/2006/relationships/notesSlide"/></Relationships>
</file>

<file path=ppt/slides/_rels/slide7.xml.rels><?xml version="1.0" encoding="UTF-8" standalone="yes"?><Relationships xmlns="http://schemas.openxmlformats.org/package/2006/relationships"><Relationship Id="rId1" Target="../slideLayouts/slideLayout1.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<Relationships xmlns="http://schemas.openxmlformats.org/package/2006/relationships"><Relationship Id="rId1" Target="../media/image35.png" Type="http://schemas.openxmlformats.org/officeDocument/2006/relationships/image"/><Relationship Id="rId2" Target="../media/image36.sv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43.png" Type="http://schemas.openxmlformats.org/officeDocument/2006/relationships/image"/><Relationship Id="rId10" Target="../media/image44.sv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13" Target="../media/image47.png" Type="http://schemas.openxmlformats.org/officeDocument/2006/relationships/image"/><Relationship Id="rId14" Target="../media/image48.svg" Type="http://schemas.openxmlformats.org/officeDocument/2006/relationships/image"/><Relationship Id="rId15" Target="../media/image49.png" Type="http://schemas.openxmlformats.org/officeDocument/2006/relationships/image"/><Relationship Id="rId16" Target="../media/image50.svg" Type="http://schemas.openxmlformats.org/officeDocument/2006/relationships/image"/><Relationship Id="rId17" Target="../slideLayouts/slideLayout1.xml" Type="http://schemas.openxmlformats.org/officeDocument/2006/relationships/slideLayout"/><Relationship Id="rId18" Target="../notesSlides/notesSlide8.xml" Type="http://schemas.openxmlformats.org/officeDocument/2006/relationships/notesSlide"/></Relationships>
</file>

<file path=ppt/slides/_rels/slide9.xml.rels><?xml version="1.0" encoding="UTF-8" standalone="yes"?><Relationships xmlns="http://schemas.openxmlformats.org/package/2006/relationships"><Relationship Id="rId1" Target="../slideLayouts/slideLayout1.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<Relationships xmlns="http://schemas.openxmlformats.org/package/2006/relationships"><Relationship Id="rId1" Target="../media/image51.png" Type="http://schemas.openxmlformats.org/officeDocument/2006/relationships/image"/><Relationship Id="rId2" Target="../media/image52.sv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slideLayouts/slideLayout1.xml" Type="http://schemas.openxmlformats.org/officeDocument/2006/relationships/slideLayout"/><Relationship Id="rId8" Target="../notesSlides/notesSlide10.xml" Type="http://schemas.openxmlformats.org/officeDocument/2006/relationships/notesSlide"/></Relationships>
</file>

<file path=ppt/slides/_rels/slide11.xml.rels><?xml version="1.0" encoding="UTF-8" standalone="yes"?><Relationships xmlns="http://schemas.openxmlformats.org/package/2006/relationships"><Relationship Id="rId1" Target="../slideLayouts/slideLayout1.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<Relationships xmlns="http://schemas.openxmlformats.org/package/2006/relationships"><Relationship Id="rId1" Target="../media/image57.png" Type="http://schemas.openxmlformats.org/officeDocument/2006/relationships/image"/><Relationship Id="rId2" Target="../media/image58.sv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slideLayouts/slideLayout1.xml" Type="http://schemas.openxmlformats.org/officeDocument/2006/relationships/slideLayout"/><Relationship Id="rId10" Target="../notesSlides/notesSlide12.xml" Type="http://schemas.openxmlformats.org/officeDocument/2006/relationships/notesSlide"/></Relationships>
</file>

<file path=ppt/slides/_rels/slide13.xml.rels><?xml version="1.0" encoding="UTF-8" standalone="yes"?><Relationships xmlns="http://schemas.openxmlformats.org/package/2006/relationships"><Relationship Id="rId1" Target="../media/image65.png" Type="http://schemas.openxmlformats.org/officeDocument/2006/relationships/image"/><Relationship Id="rId2" Target="../media/image66.svg" Type="http://schemas.openxmlformats.org/officeDocument/2006/relationships/imag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71.png" Type="http://schemas.openxmlformats.org/officeDocument/2006/relationships/image"/><Relationship Id="rId8" Target="../media/image72.svg" Type="http://schemas.openxmlformats.org/officeDocument/2006/relationships/image"/><Relationship Id="rId9" Target="../media/image73.png" Type="http://schemas.openxmlformats.org/officeDocument/2006/relationships/image"/><Relationship Id="rId10" Target="../media/image74.svg" Type="http://schemas.openxmlformats.org/officeDocument/2006/relationships/image"/><Relationship Id="rId11" Target="../media/image75.png" Type="http://schemas.openxmlformats.org/officeDocument/2006/relationships/image"/><Relationship Id="rId12" Target="../media/image76.svg" Type="http://schemas.openxmlformats.org/officeDocument/2006/relationships/image"/><Relationship Id="rId13" Target="../media/image77.png" Type="http://schemas.openxmlformats.org/officeDocument/2006/relationships/image"/><Relationship Id="rId14" Target="../media/image78.svg" Type="http://schemas.openxmlformats.org/officeDocument/2006/relationships/image"/><Relationship Id="rId15" Target="../media/image79.png" Type="http://schemas.openxmlformats.org/officeDocument/2006/relationships/image"/><Relationship Id="rId16" Target="../media/image80.svg" Type="http://schemas.openxmlformats.org/officeDocument/2006/relationships/image"/><Relationship Id="rId17" Target="../slideLayouts/slideLayout1.xml" Type="http://schemas.openxmlformats.org/officeDocument/2006/relationships/slideLayout"/><Relationship Id="rId18" Target="../notesSlides/notesSlide13.xml" Type="http://schemas.openxmlformats.org/officeDocument/2006/relationships/notesSlide"/></Relationships>
</file>

<file path=ppt/slides/_rels/slide14.xml.rels><?xml version="1.0" encoding="UTF-8" standalone="yes"?><Relationships xmlns="http://schemas.openxmlformats.org/package/2006/relationships"><Relationship Id="rId1" Target="../media/image81.png" Type="http://schemas.openxmlformats.org/officeDocument/2006/relationships/image"/><Relationship Id="rId2" Target="../media/image82.svg" Type="http://schemas.openxmlformats.org/officeDocument/2006/relationships/image"/><Relationship Id="rId3" Target="../media/image83.png" Type="http://schemas.openxmlformats.org/officeDocument/2006/relationships/image"/><Relationship Id="rId4" Target="../media/image84.svg" Type="http://schemas.openxmlformats.org/officeDocument/2006/relationships/image"/><Relationship Id="rId5" Target="../media/image85.png" Type="http://schemas.openxmlformats.org/officeDocument/2006/relationships/image"/><Relationship Id="rId6" Target="../media/image86.svg" Type="http://schemas.openxmlformats.org/officeDocument/2006/relationships/image"/><Relationship Id="rId7" Target="../media/image87.png" Type="http://schemas.openxmlformats.org/officeDocument/2006/relationships/image"/><Relationship Id="rId8" Target="../media/image88.svg" Type="http://schemas.openxmlformats.org/officeDocument/2006/relationships/image"/><Relationship Id="rId9" Target="../media/image89.png" Type="http://schemas.openxmlformats.org/officeDocument/2006/relationships/image"/><Relationship Id="rId10" Target="../media/image90.svg" Type="http://schemas.openxmlformats.org/officeDocument/2006/relationships/image"/><Relationship Id="rId11" Target="../media/image91.png" Type="http://schemas.openxmlformats.org/officeDocument/2006/relationships/image"/><Relationship Id="rId12" Target="../media/image92.svg" Type="http://schemas.openxmlformats.org/officeDocument/2006/relationships/image"/><Relationship Id="rId13" Target="../media/image93.png" Type="http://schemas.openxmlformats.org/officeDocument/2006/relationships/image"/><Relationship Id="rId14" Target="../media/image94.svg" Type="http://schemas.openxmlformats.org/officeDocument/2006/relationships/image"/><Relationship Id="rId15" Target="../media/image95.png" Type="http://schemas.openxmlformats.org/officeDocument/2006/relationships/image"/><Relationship Id="rId16" Target="../media/image96.svg" Type="http://schemas.openxmlformats.org/officeDocument/2006/relationships/image"/><Relationship Id="rId17" Target="../media/image97.png" Type="http://schemas.openxmlformats.org/officeDocument/2006/relationships/image"/><Relationship Id="rId18" Target="../media/image98.svg" Type="http://schemas.openxmlformats.org/officeDocument/2006/relationships/image"/><Relationship Id="rId19" Target="../slideLayouts/slideLayout1.xml" Type="http://schemas.openxmlformats.org/officeDocument/2006/relationships/slideLayout"/><Relationship Id="rId20" Target="../notesSlides/notesSlide14.xml" Type="http://schemas.openxmlformats.org/officeDocument/2006/relationships/notesSlide"/></Relationships>
</file>

<file path=ppt/slides/_rels/slide15.xml.rels><?xml version="1.0" encoding="UTF-8" standalone="yes"?><Relationships xmlns="http://schemas.openxmlformats.org/package/2006/relationships"><Relationship Id="rId1" Target="../media/image99.png" Type="http://schemas.openxmlformats.org/officeDocument/2006/relationships/image"/><Relationship Id="rId2" Target="../slideLayouts/slideLayout1.xml" Type="http://schemas.openxmlformats.org/officeDocument/2006/relationships/slideLayout"/><Relationship Id="rId3" Target="../notesSlides/notesSlide15.xml" Type="http://schemas.openxmlformats.org/officeDocument/2006/relationships/notesSlide"/></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6094476" y="1333167"/>
            <a:ext cx="6368727" cy="3455282"/>
          </a:xfrm>
          <a:prstGeom prst="rect">
            <a:avLst/>
          </a:prstGeom>
          <a:noFill/>
        </p:spPr>
        <p:txBody>
          <a:bodyPr wrap="square" rtlCol="0" anchor="ctr" bIns="0" lIns="0" rIns="0" tIns="0"/>
          <a:lstStyle/>
          <a:p>
            <a:pPr algn="l">
              <a:lnSpc>
                <a:spcPts val="6804"/>
              </a:lnSpc>
              <a:buNone/>
            </a:pPr>
            <a:r>
              <a:rPr lang="en-US" sz="6075" spc="-182" kern="0" dirty="0" smtClean="0">
                <a:solidFill>
                  <a:srgbClr val="ffffff"/>
                </a:solidFill>
                <a:latin typeface="Montserrat" pitchFamily="34" charset="0"/>
                <a:ea typeface="Montserrat" pitchFamily="34" charset="-122"/>
                <a:cs typeface="Montserrat" pitchFamily="34" charset="-120"/>
              </a:rPr>
              <a:t>Revolutionizing Agricultural Equipment Financing</a:t>
            </a:r>
            <a:endParaRPr lang="en-US" dirty="0"/>
          </a:p>
        </p:txBody>
      </p:sp>
      <p:sp>
        <p:nvSpPr>
          <p:cNvPr id="3" name="Object 2"/>
          <p:cNvSpPr/>
          <p:nvPr/>
        </p:nvSpPr>
        <p:spPr>
          <a:xfrm>
            <a:off x="6094476" y="4904387"/>
            <a:ext cx="6368727" cy="518269"/>
          </a:xfrm>
          <a:prstGeom prst="rect">
            <a:avLst/>
          </a:prstGeom>
          <a:noFill/>
        </p:spPr>
        <p:txBody>
          <a:bodyPr wrap="square" rtlCol="0" anchor="ctr" bIns="0" lIns="0" rIns="0" tIns="0"/>
          <a:lstStyle/>
          <a:p>
            <a:pPr algn="l">
              <a:lnSpc>
                <a:spcPts val="2042"/>
              </a:lnSpc>
              <a:spcBef>
                <a:spcPts val="896"/>
              </a:spcBef>
              <a:buNone/>
            </a:pPr>
            <a:r>
              <a:rPr lang="en-US" sz="1458" dirty="0" smtClean="0">
                <a:solidFill>
                  <a:srgbClr val="ffffff">
                    <a:alpha val="90000"/>
                  </a:srgbClr>
                </a:solidFill>
                <a:latin typeface="Montserrat" pitchFamily="34" charset="0"/>
                <a:ea typeface="Montserrat" pitchFamily="34" charset="-122"/>
                <a:cs typeface="Montserrat" pitchFamily="34" charset="-120"/>
              </a:rPr>
              <a:t>Introducing a digital marketplace to streamline the $14.6 billion agricultural equipment financing industry</a:t>
            </a:r>
            <a:endParaRPr lang="en-US" dirty="0"/>
          </a:p>
        </p:txBody>
      </p:sp>
      <p:sp>
        <p:nvSpPr>
          <p:cNvPr id="4" name="Object 3"/>
          <p:cNvSpPr/>
          <p:nvPr/>
        </p:nvSpPr>
        <p:spPr>
          <a:xfrm>
            <a:off x="0" y="0"/>
            <a:ext cx="5713571" cy="6856286"/>
          </a:xfrm>
          <a:prstGeom prst="rect">
            <a:avLst/>
          </a:prstGeom>
          <a:solidFill>
            <a:srgbClr val="000000">
              <a:alpha val="0000"/>
            </a:srgbClr>
          </a:solidFill>
        </p:spPr>
      </p:sp>
      <p:pic>
        <p:nvPicPr>
          <p:cNvPr id="5" name="Object 4" descr="agricultural equipment financing platform">    </p:cNvPr>
          <p:cNvPicPr>
            <a:picLocks noChangeAspect="1"/>
          </p:cNvPicPr>
          <p:nvPr/>
        </p:nvPicPr>
        <p:blipFill>
          <a:blip r:embed="rId1"/>
          <a:srcRect l="23958" r="23958" t="0" b="0"/>
          <a:stretch/>
        </p:blipFill>
        <p:spPr>
          <a:xfrm>
            <a:off x="0" y="0"/>
            <a:ext cx="5713571" cy="6856286"/>
          </a:xfrm>
          <a:prstGeom prst="rect">
            <a:avLst/>
          </a:prstGeom>
        </p:spPr>
      </p:pic>
    </p:spTree>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Executive Summary</a:t>
            </a:r>
            <a:endParaRPr lang="en-US" dirty="0"/>
          </a:p>
        </p:txBody>
      </p:sp>
      <p:pic>
        <p:nvPicPr>
          <p:cNvPr id="3" name="Object 2"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10797" y="2052268"/>
            <a:ext cx="752287" cy="638015"/>
          </a:xfrm>
          <a:prstGeom prst="rect">
            <a:avLst/>
          </a:prstGeom>
        </p:spPr>
      </p:pic>
      <p:sp>
        <p:nvSpPr>
          <p:cNvPr id="4" name="Object 3"/>
          <p:cNvSpPr/>
          <p:nvPr/>
        </p:nvSpPr>
        <p:spPr>
          <a:xfrm>
            <a:off x="341386" y="3181745"/>
            <a:ext cx="3697633"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Opportunity</a:t>
            </a:r>
            <a:endParaRPr lang="en-US" dirty="0"/>
          </a:p>
        </p:txBody>
      </p:sp>
      <p:sp>
        <p:nvSpPr>
          <p:cNvPr id="5" name="Object 4"/>
          <p:cNvSpPr/>
          <p:nvPr/>
        </p:nvSpPr>
        <p:spPr>
          <a:xfrm>
            <a:off x="341386" y="3497896"/>
            <a:ext cx="3697633" cy="1066533"/>
          </a:xfrm>
          <a:prstGeom prst="rect">
            <a:avLst/>
          </a:prstGeom>
          <a:noFill/>
        </p:spPr>
        <p:txBody>
          <a:bodyPr wrap="square" rtlCol="0" anchor="t" bIns="0" lIns="0" rIns="0" tIns="0"/>
          <a:lstStyle/>
          <a:p>
            <a:pPr algn="ctr">
              <a:lnSpc>
                <a:spcPts val="1680"/>
              </a:lnSpc>
              <a:spcBef>
                <a:spcPts val="663"/>
              </a:spcBef>
              <a:buNone/>
            </a:pPr>
            <a:r>
              <a:rPr lang="en-US" sz="1200" dirty="0" smtClean="0">
                <a:solidFill>
                  <a:srgbClr val="5a5a4c"/>
                </a:solidFill>
                <a:latin typeface="Montserrat" pitchFamily="34" charset="0"/>
                <a:ea typeface="Montserrat" pitchFamily="34" charset="-122"/>
                <a:cs typeface="Montserrat" pitchFamily="34" charset="-120"/>
              </a:rPr>
              <a:t>$14.6 billion North American market, projected to grow at 3.2% CAGR through 2030, but industry remains frozen in 1990s technology with fragmented workflows and poor data standardization.</a:t>
            </a:r>
            <a:endParaRPr lang="en-US" dirty="0"/>
          </a:p>
        </p:txBody>
      </p:sp>
      <p:pic>
        <p:nvPicPr>
          <p:cNvPr id="6" name="Object 5"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8154" y="1918361"/>
            <a:ext cx="1018920" cy="895126"/>
          </a:xfrm>
          <a:prstGeom prst="rect">
            <a:avLst/>
          </a:prstGeom>
        </p:spPr>
      </p:pic>
      <p:sp>
        <p:nvSpPr>
          <p:cNvPr id="7" name="Object 6"/>
          <p:cNvSpPr/>
          <p:nvPr/>
        </p:nvSpPr>
        <p:spPr>
          <a:xfrm>
            <a:off x="4224710" y="3181745"/>
            <a:ext cx="3739532"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Core Problems</a:t>
            </a:r>
            <a:endParaRPr lang="en-US" dirty="0"/>
          </a:p>
        </p:txBody>
      </p:sp>
      <p:sp>
        <p:nvSpPr>
          <p:cNvPr id="8" name="Object 7"/>
          <p:cNvSpPr/>
          <p:nvPr/>
        </p:nvSpPr>
        <p:spPr>
          <a:xfrm>
            <a:off x="4224710" y="3497896"/>
            <a:ext cx="3739532" cy="1706453"/>
          </a:xfrm>
          <a:prstGeom prst="rect">
            <a:avLst/>
          </a:prstGeom>
          <a:noFill/>
        </p:spPr>
        <p:txBody>
          <a:bodyPr wrap="square" rtlCol="0" anchor="t" bIns="0" lIns="0" rIns="0" tIns="0"/>
          <a:lstStyle/>
          <a:p>
            <a:pPr algn="ctr">
              <a:lnSpc>
                <a:spcPts val="1680"/>
              </a:lnSpc>
              <a:spcBef>
                <a:spcPts val="663"/>
              </a:spcBef>
              <a:buNone/>
            </a:pPr>
            <a:r>
              <a:rPr lang="en-US" sz="1200" dirty="0" smtClean="0">
                <a:solidFill>
                  <a:srgbClr val="5a5a4c"/>
                </a:solidFill>
                <a:latin typeface="Montserrat" pitchFamily="34" charset="0"/>
                <a:ea typeface="Montserrat" pitchFamily="34" charset="-122"/>
                <a:cs typeface="Montserrat" pitchFamily="34" charset="-120"/>
              </a:rPr>
              <a:t>Farmers wait 3-7 days for financing approvals, dealers manually manage 5-15 lender portals, wasting 30-40% of finance staff time, lenders rework 30-40% of applications due to incomplete data, costing $200-300 per application, OEMs lack real-time visibility into equipment financing trends and incentive ROI.</a:t>
            </a:r>
            <a:endParaRPr lang="en-US" dirty="0"/>
          </a:p>
        </p:txBody>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96580" y="2108064"/>
            <a:ext cx="961784" cy="590402"/>
          </a:xfrm>
          <a:prstGeom prst="rect">
            <a:avLst/>
          </a:prstGeom>
        </p:spPr>
      </p:pic>
      <p:sp>
        <p:nvSpPr>
          <p:cNvPr id="10" name="Object 9"/>
          <p:cNvSpPr/>
          <p:nvPr/>
        </p:nvSpPr>
        <p:spPr>
          <a:xfrm>
            <a:off x="8113271" y="3181745"/>
            <a:ext cx="3770957"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Our Solution</a:t>
            </a:r>
            <a:endParaRPr lang="en-US" dirty="0"/>
          </a:p>
        </p:txBody>
      </p:sp>
      <p:sp>
        <p:nvSpPr>
          <p:cNvPr id="11" name="Object 10"/>
          <p:cNvSpPr/>
          <p:nvPr/>
        </p:nvSpPr>
        <p:spPr>
          <a:xfrm>
            <a:off x="8113271" y="3497896"/>
            <a:ext cx="3770957" cy="1493147"/>
          </a:xfrm>
          <a:prstGeom prst="rect">
            <a:avLst/>
          </a:prstGeom>
          <a:noFill/>
        </p:spPr>
        <p:txBody>
          <a:bodyPr wrap="square" rtlCol="0" anchor="t" bIns="0" lIns="0" rIns="0" tIns="0"/>
          <a:lstStyle/>
          <a:p>
            <a:pPr algn="ctr">
              <a:lnSpc>
                <a:spcPts val="1680"/>
              </a:lnSpc>
              <a:spcBef>
                <a:spcPts val="663"/>
              </a:spcBef>
              <a:buNone/>
            </a:pPr>
            <a:r>
              <a:rPr lang="en-US" sz="1200" dirty="0" smtClean="0">
                <a:solidFill>
                  <a:srgbClr val="5a5a4c"/>
                </a:solidFill>
                <a:latin typeface="Montserrat" pitchFamily="34" charset="0"/>
                <a:ea typeface="Montserrat" pitchFamily="34" charset="-122"/>
                <a:cs typeface="Montserrat" pitchFamily="34" charset="-120"/>
              </a:rPr>
              <a:t>A neutral, dealer-embedded, multi-lender digital marketplace that standardizes workflows across dealers and lenders, enables instant multi-lender comparison for farmers, reduces underwriting costs by 20-30%, and provides OEMs real-time green equipment financing and incentive tracking.</a:t>
            </a:r>
            <a:endParaRPr lang="en-US" dirty="0"/>
          </a:p>
        </p:txBody>
      </p:sp>
      <p:sp>
        <p:nvSpPr>
          <p:cNvPr id="12" name="Object 11"/>
          <p:cNvSpPr/>
          <p:nvPr/>
        </p:nvSpPr>
        <p:spPr>
          <a:xfrm>
            <a:off x="0" y="5713571"/>
            <a:ext cx="12188952" cy="1142714"/>
          </a:xfrm>
          <a:prstGeom prst="rect">
            <a:avLst/>
          </a:prstGeom>
          <a:solidFill>
            <a:srgbClr val="14558c"/>
          </a:solidFill>
        </p:spPr>
      </p:sp>
      <p:sp>
        <p:nvSpPr>
          <p:cNvPr id="13" name="Object 12"/>
          <p:cNvSpPr/>
          <p:nvPr/>
        </p:nvSpPr>
        <p:spPr>
          <a:xfrm>
            <a:off x="147601" y="6065551"/>
            <a:ext cx="11893751" cy="431851"/>
          </a:xfrm>
          <a:prstGeom prst="rect">
            <a:avLst/>
          </a:prstGeom>
          <a:noFill/>
        </p:spPr>
        <p:txBody>
          <a:bodyPr wrap="square" rtlCol="0" anchor="ctr" bIns="0" lIns="0" rIns="0" tIns="0"/>
          <a:lstStyle/>
          <a:p>
            <a:pPr algn="ctr">
              <a:lnSpc>
                <a:spcPts val="1701"/>
              </a:lnSpc>
              <a:buNone/>
            </a:pPr>
            <a:r>
              <a:rPr lang="en-US" sz="1350" dirty="0" smtClean="0">
                <a:solidFill>
                  <a:srgbClr val="ffffff"/>
                </a:solidFill>
                <a:latin typeface="Montserrat" pitchFamily="34" charset="0"/>
                <a:ea typeface="Montserrat" pitchFamily="34" charset="-122"/>
                <a:cs typeface="Montserrat" pitchFamily="34" charset="-120"/>
              </a:rPr>
              <a:t>The executive summary outlines the significant opportunity in the $14.6 billion North American agricultural equipment financing market, the core problems faced by stakeholders, and our comprehensive solution that addresses these challenges.</a:t>
            </a:r>
            <a:endParaRPr lang="en-US" dirty="0"/>
          </a:p>
        </p:txBody>
      </p:sp>
    </p:spTree>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476131" y="476131"/>
            <a:ext cx="3483374" cy="5904024"/>
          </a:xfrm>
          <a:prstGeom prst="rect">
            <a:avLst/>
          </a:prstGeom>
          <a:solidFill>
            <a:srgbClr val="e66922"/>
          </a:solidFill>
        </p:spPr>
      </p:sp>
      <p:pic>
        <p:nvPicPr>
          <p:cNvPr id="3" name="Object 2" descr="agricultural equipment financing">    </p:cNvPr>
          <p:cNvPicPr>
            <a:picLocks noChangeAspect="1"/>
          </p:cNvPicPr>
          <p:nvPr/>
        </p:nvPicPr>
        <p:blipFill>
          <a:blip r:embed="rId1"/>
          <a:srcRect l="22944" r="22944" t="0" b="0"/>
          <a:stretch/>
        </p:blipFill>
        <p:spPr>
          <a:xfrm>
            <a:off x="476131" y="476131"/>
            <a:ext cx="3483374" cy="5904024"/>
          </a:xfrm>
          <a:prstGeom prst="rect">
            <a:avLst/>
          </a:prstGeom>
        </p:spPr>
      </p:pic>
      <p:sp>
        <p:nvSpPr>
          <p:cNvPr id="4" name="Object 3"/>
          <p:cNvSpPr/>
          <p:nvPr/>
        </p:nvSpPr>
        <p:spPr>
          <a:xfrm>
            <a:off x="4125198" y="2309235"/>
            <a:ext cx="7898060" cy="533267"/>
          </a:xfrm>
          <a:prstGeom prst="rect">
            <a:avLst/>
          </a:prstGeom>
          <a:noFill/>
        </p:spPr>
        <p:txBody>
          <a:bodyPr wrap="square" rtlCol="0" anchor="ctr" bIns="0" lIns="0" rIns="0" tIns="0"/>
          <a:lstStyle/>
          <a:p>
            <a:pPr algn="ct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Why This, Why Now, Why Us</a:t>
            </a:r>
            <a:endParaRPr lang="en-US" dirty="0"/>
          </a:p>
        </p:txBody>
      </p:sp>
      <p:sp>
        <p:nvSpPr>
          <p:cNvPr id="5" name="Object 4"/>
          <p:cNvSpPr/>
          <p:nvPr/>
        </p:nvSpPr>
        <p:spPr>
          <a:xfrm>
            <a:off x="4125198" y="2964153"/>
            <a:ext cx="7898060" cy="1535522"/>
          </a:xfrm>
          <a:prstGeom prst="rect">
            <a:avLst/>
          </a:prstGeom>
          <a:noFill/>
        </p:spPr>
        <p:txBody>
          <a:bodyPr wrap="square" rtlCol="0" anchor="ctr" bIns="0" lIns="0" rIns="0" tIns="0"/>
          <a:lstStyle/>
          <a:p>
            <a:pPr algn="ctr">
              <a:lnSpc>
                <a:spcPts val="2016"/>
              </a:lnSpc>
              <a:spcBef>
                <a:spcPts val="939"/>
              </a:spcBef>
              <a:buNone/>
            </a:pPr>
            <a:r>
              <a:rPr lang="en-US" sz="1440" dirty="0" smtClean="0">
                <a:solidFill>
                  <a:srgbClr val="ffffff">
                    <a:alpha val="90000"/>
                  </a:srgbClr>
                </a:solidFill>
                <a:latin typeface="Montserrat" pitchFamily="34" charset="0"/>
                <a:ea typeface="Montserrat" pitchFamily="34" charset="-122"/>
                <a:cs typeface="Montserrat" pitchFamily="34" charset="-120"/>
              </a:rPr>
              <a:t>The $14.6 billion North American agricultural equipment financing market represents a significant opportunity. Now is the inflection point, with equipment prices up 35-40% and rural bank deposits down 15-22%, creating a perfect storm of demand for modernized financing solutions. Our team's deep fintech and ag-lending expertise, validated by 8 dealer interviews and 6 lender calls, positions us to address this critical market need.</a:t>
            </a:r>
            <a:endParaRPr lang="en-US" dirty="0"/>
          </a:p>
        </p:txBody>
      </p:sp>
    </p:spTree>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Business Model &amp; Unit Economics</a:t>
            </a:r>
            <a:endParaRPr lang="en-US" dirty="0"/>
          </a:p>
        </p:txBody>
      </p:sp>
      <p:sp>
        <p:nvSpPr>
          <p:cNvPr id="3" name="Object 2"/>
          <p:cNvSpPr/>
          <p:nvPr/>
        </p:nvSpPr>
        <p:spPr>
          <a:xfrm>
            <a:off x="476131" y="1580755"/>
            <a:ext cx="5523119" cy="2304474"/>
          </a:xfrm>
          <a:prstGeom prst="rect">
            <a:avLst/>
          </a:prstGeom>
          <a:noFill/>
          <a:ln w="25400">
            <a:solidFill>
              <a:srgbClr val="62a8bb"/>
            </a:solidFill>
            <a:prstDash val="solid"/>
            <a:miter lim="800000"/>
          </a:ln>
        </p:spPr>
      </p:sp>
      <p:sp>
        <p:nvSpPr>
          <p:cNvPr id="4" name="Object 3"/>
          <p:cNvSpPr/>
          <p:nvPr/>
        </p:nvSpPr>
        <p:spPr>
          <a:xfrm>
            <a:off x="761810" y="1812154"/>
            <a:ext cx="5551687" cy="489463"/>
          </a:xfrm>
          <a:prstGeom prst="rect">
            <a:avLst/>
          </a:prstGeom>
          <a:noFill/>
        </p:spPr>
        <p:txBody>
          <a:bodyPr wrap="square" rtlCol="0" anchor="t" bIns="0" lIns="0" rIns="0" tIns="0"/>
          <a:lstStyle/>
          <a:p>
            <a:pPr algn="l">
              <a:lnSpc>
                <a:spcPts val="1927"/>
              </a:lnSpc>
              <a:buNone/>
            </a:pPr>
            <a:r>
              <a:rPr lang="en-US" sz="1530" dirty="0" smtClean="0">
                <a:solidFill>
                  <a:srgbClr val="2a2921"/>
                </a:solidFill>
                <a:latin typeface="Montserrat" pitchFamily="34" charset="0"/>
                <a:ea typeface="Montserrat" pitchFamily="34" charset="-122"/>
                <a:cs typeface="Montserrat" pitchFamily="34" charset="-120"/>
              </a:rPr>
              <a:t>Three Revenue Streams (Year 5 projection: $36-52M)</a:t>
            </a:r>
            <a:endParaRPr lang="en-US" dirty="0"/>
          </a:p>
        </p:txBody>
      </p:sp>
      <p:sp>
        <p:nvSpPr>
          <p:cNvPr id="5" name="Object 4"/>
          <p:cNvSpPr/>
          <p:nvPr/>
        </p:nvSpPr>
        <p:spPr>
          <a:xfrm>
            <a:off x="761810" y="2411484"/>
            <a:ext cx="5551687" cy="599925"/>
          </a:xfrm>
          <a:prstGeom prst="rect">
            <a:avLst/>
          </a:prstGeom>
          <a:noFill/>
        </p:spPr>
        <p:txBody>
          <a:bodyPr wrap="square" rtlCol="0" anchor="t" bIns="0" lIns="0" rIns="0" tIns="0"/>
          <a:lstStyle/>
          <a:p>
            <a:pPr algn="l">
              <a:lnSpc>
                <a:spcPts val="1575"/>
              </a:lnSpc>
              <a:spcBef>
                <a:spcPts val="848"/>
              </a:spcBef>
              <a:buNone/>
            </a:pPr>
            <a:r>
              <a:rPr lang="en-US" sz="1125" dirty="0" smtClean="0">
                <a:solidFill>
                  <a:srgbClr val="5a5a4c"/>
                </a:solidFill>
                <a:latin typeface="Montserrat" pitchFamily="34" charset="0"/>
                <a:ea typeface="Montserrat" pitchFamily="34" charset="-122"/>
                <a:cs typeface="Montserrat" pitchFamily="34" charset="-120"/>
              </a:rPr>
              <a:t>Stream Structure % Revenue Y5 Revenue Lender Fees 0.75-1.5% of funded loans 70% $25-39M Dealer SaaS $300-1,500/month (tiered) 25% $9-12M OEM Analytics $10-50K annually per OEM 5% $0.15-1M</a:t>
            </a:r>
            <a:endParaRPr lang="en-US" dirty="0"/>
          </a:p>
        </p:txBody>
      </p:sp>
      <p:sp>
        <p:nvSpPr>
          <p:cNvPr id="6" name="Object 5"/>
          <p:cNvSpPr/>
          <p:nvPr/>
        </p:nvSpPr>
        <p:spPr>
          <a:xfrm>
            <a:off x="6189702" y="1580755"/>
            <a:ext cx="5523119" cy="2304474"/>
          </a:xfrm>
          <a:prstGeom prst="rect">
            <a:avLst/>
          </a:prstGeom>
          <a:noFill/>
          <a:ln w="25400">
            <a:solidFill>
              <a:srgbClr val="488cab"/>
            </a:solidFill>
            <a:prstDash val="solid"/>
            <a:miter lim="800000"/>
          </a:ln>
        </p:spPr>
      </p:sp>
      <p:sp>
        <p:nvSpPr>
          <p:cNvPr id="7" name="Object 6"/>
          <p:cNvSpPr/>
          <p:nvPr/>
        </p:nvSpPr>
        <p:spPr>
          <a:xfrm>
            <a:off x="6475381" y="1812154"/>
            <a:ext cx="5551687" cy="244731"/>
          </a:xfrm>
          <a:prstGeom prst="rect">
            <a:avLst/>
          </a:prstGeom>
          <a:noFill/>
        </p:spPr>
        <p:txBody>
          <a:bodyPr wrap="square" rtlCol="0" anchor="t" bIns="0" lIns="0" rIns="0" tIns="0"/>
          <a:lstStyle/>
          <a:p>
            <a:pPr algn="l">
              <a:lnSpc>
                <a:spcPts val="1927"/>
              </a:lnSpc>
              <a:buNone/>
            </a:pPr>
            <a:r>
              <a:rPr lang="en-US" sz="1530" dirty="0" smtClean="0">
                <a:solidFill>
                  <a:srgbClr val="2a2921"/>
                </a:solidFill>
                <a:latin typeface="Montserrat" pitchFamily="34" charset="0"/>
                <a:ea typeface="Montserrat" pitchFamily="34" charset="-122"/>
                <a:cs typeface="Montserrat" pitchFamily="34" charset="-120"/>
              </a:rPr>
              <a:t>Unit Economics (Y5)</a:t>
            </a:r>
            <a:endParaRPr lang="en-US" dirty="0"/>
          </a:p>
        </p:txBody>
      </p:sp>
      <p:sp>
        <p:nvSpPr>
          <p:cNvPr id="8" name="Object 7"/>
          <p:cNvSpPr/>
          <p:nvPr/>
        </p:nvSpPr>
        <p:spPr>
          <a:xfrm>
            <a:off x="6475381" y="2166753"/>
            <a:ext cx="5551687" cy="799900"/>
          </a:xfrm>
          <a:prstGeom prst="rect">
            <a:avLst/>
          </a:prstGeom>
          <a:noFill/>
        </p:spPr>
        <p:txBody>
          <a:bodyPr wrap="square" rtlCol="0" anchor="t" bIns="0" lIns="0" rIns="0" tIns="0"/>
          <a:lstStyle/>
          <a:p>
            <a:pPr algn="l">
              <a:lnSpc>
                <a:spcPts val="1575"/>
              </a:lnSpc>
              <a:spcBef>
                <a:spcPts val="848"/>
              </a:spcBef>
              <a:buNone/>
            </a:pPr>
            <a:r>
              <a:rPr lang="en-US" sz="1125" dirty="0" smtClean="0">
                <a:solidFill>
                  <a:srgbClr val="5a5a4c"/>
                </a:solidFill>
                <a:latin typeface="Montserrat" pitchFamily="34" charset="0"/>
                <a:ea typeface="Montserrat" pitchFamily="34" charset="-122"/>
                <a:cs typeface="Montserrat" pitchFamily="34" charset="-120"/>
              </a:rPr>
              <a:t>• Gross Margin: 78-82% (cloud infrastructure, standardized integrations) • CAC per Dealer: $3.8K with OEM partnerships (down from $5K) • CAC Payback: 4.5 months (sustainable model) • Net Retention: 100%+ (expansion revenue)</a:t>
            </a:r>
            <a:endParaRPr lang="en-US" dirty="0"/>
          </a:p>
        </p:txBody>
      </p:sp>
      <p:sp>
        <p:nvSpPr>
          <p:cNvPr id="9" name="Object 8"/>
          <p:cNvSpPr/>
          <p:nvPr/>
        </p:nvSpPr>
        <p:spPr>
          <a:xfrm>
            <a:off x="476131" y="4075681"/>
            <a:ext cx="5523119" cy="2304474"/>
          </a:xfrm>
          <a:prstGeom prst="rect">
            <a:avLst/>
          </a:prstGeom>
          <a:noFill/>
          <a:ln w="25400">
            <a:solidFill>
              <a:srgbClr val="2e719c"/>
            </a:solidFill>
            <a:prstDash val="solid"/>
            <a:miter lim="800000"/>
          </a:ln>
        </p:spPr>
      </p:sp>
      <p:sp>
        <p:nvSpPr>
          <p:cNvPr id="10" name="Object 9"/>
          <p:cNvSpPr/>
          <p:nvPr/>
        </p:nvSpPr>
        <p:spPr>
          <a:xfrm>
            <a:off x="761810" y="4307080"/>
            <a:ext cx="5551687" cy="244731"/>
          </a:xfrm>
          <a:prstGeom prst="rect">
            <a:avLst/>
          </a:prstGeom>
          <a:noFill/>
        </p:spPr>
        <p:txBody>
          <a:bodyPr wrap="square" rtlCol="0" anchor="t" bIns="0" lIns="0" rIns="0" tIns="0"/>
          <a:lstStyle/>
          <a:p>
            <a:pPr algn="l">
              <a:lnSpc>
                <a:spcPts val="1927"/>
              </a:lnSpc>
              <a:buNone/>
            </a:pPr>
            <a:r>
              <a:rPr lang="en-US" sz="1530" dirty="0" smtClean="0">
                <a:solidFill>
                  <a:srgbClr val="2a2921"/>
                </a:solidFill>
                <a:latin typeface="Montserrat" pitchFamily="34" charset="0"/>
                <a:ea typeface="Montserrat" pitchFamily="34" charset="-122"/>
                <a:cs typeface="Montserrat" pitchFamily="34" charset="-120"/>
              </a:rPr>
              <a:t>Financial Highlights — Reality-Checked</a:t>
            </a:r>
            <a:endParaRPr lang="en-US" dirty="0"/>
          </a:p>
        </p:txBody>
      </p:sp>
      <p:sp>
        <p:nvSpPr>
          <p:cNvPr id="11" name="Object 10"/>
          <p:cNvSpPr/>
          <p:nvPr/>
        </p:nvSpPr>
        <p:spPr>
          <a:xfrm>
            <a:off x="761810" y="4661679"/>
            <a:ext cx="5551687" cy="999875"/>
          </a:xfrm>
          <a:prstGeom prst="rect">
            <a:avLst/>
          </a:prstGeom>
          <a:noFill/>
        </p:spPr>
        <p:txBody>
          <a:bodyPr wrap="square" rtlCol="0" anchor="t" bIns="0" lIns="0" rIns="0" tIns="0"/>
          <a:lstStyle/>
          <a:p>
            <a:pPr algn="l">
              <a:lnSpc>
                <a:spcPts val="1575"/>
              </a:lnSpc>
              <a:spcBef>
                <a:spcPts val="848"/>
              </a:spcBef>
              <a:buNone/>
            </a:pPr>
            <a:r>
              <a:rPr lang="en-US" sz="1125" dirty="0" smtClean="0">
                <a:solidFill>
                  <a:srgbClr val="5a5a4c"/>
                </a:solidFill>
                <a:latin typeface="Montserrat" pitchFamily="34" charset="0"/>
                <a:ea typeface="Montserrat" pitchFamily="34" charset="-122"/>
                <a:cs typeface="Montserrat" pitchFamily="34" charset="-120"/>
              </a:rPr>
              <a:t>Metric Conservative Base Case Upside Y5 Dealers 600 750 950 Y5 Platform Volume $2.8B $3.6B $5.0B Y5 Revenue $22M $32M $43M Y5 EBITDA Margin 22% 28% 32% Exit Valuation (6x) $132M $192M $258M Seed Return (from $300K) 440x 640x 860x Profitability Path: Break-even Month 18-20 EBITDA positive Year 3 Exit Year 5</a:t>
            </a:r>
            <a:endParaRPr lang="en-US" dirty="0"/>
          </a:p>
        </p:txBody>
      </p:sp>
      <p:sp>
        <p:nvSpPr>
          <p:cNvPr id="12" name="Object 11"/>
          <p:cNvSpPr/>
          <p:nvPr/>
        </p:nvSpPr>
        <p:spPr>
          <a:xfrm>
            <a:off x="6189702" y="4075681"/>
            <a:ext cx="5523119" cy="2304474"/>
          </a:xfrm>
          <a:prstGeom prst="rect">
            <a:avLst/>
          </a:prstGeom>
          <a:noFill/>
          <a:ln w="25400">
            <a:solidFill>
              <a:srgbClr val="14558c"/>
            </a:solidFill>
            <a:prstDash val="solid"/>
            <a:miter lim="800000"/>
          </a:ln>
        </p:spPr>
      </p:sp>
      <p:sp>
        <p:nvSpPr>
          <p:cNvPr id="13" name="Object 12"/>
          <p:cNvSpPr/>
          <p:nvPr/>
        </p:nvSpPr>
        <p:spPr>
          <a:xfrm>
            <a:off x="6475381" y="4307080"/>
            <a:ext cx="5551687" cy="489463"/>
          </a:xfrm>
          <a:prstGeom prst="rect">
            <a:avLst/>
          </a:prstGeom>
          <a:noFill/>
        </p:spPr>
        <p:txBody>
          <a:bodyPr wrap="square" rtlCol="0" anchor="t" bIns="0" lIns="0" rIns="0" tIns="0"/>
          <a:lstStyle/>
          <a:p>
            <a:pPr algn="l">
              <a:lnSpc>
                <a:spcPts val="1927"/>
              </a:lnSpc>
              <a:buNone/>
            </a:pPr>
            <a:r>
              <a:rPr lang="en-US" sz="1530" dirty="0" smtClean="0">
                <a:solidFill>
                  <a:srgbClr val="2a2921"/>
                </a:solidFill>
                <a:latin typeface="Montserrat" pitchFamily="34" charset="0"/>
                <a:ea typeface="Montserrat" pitchFamily="34" charset="-122"/>
                <a:cs typeface="Montserrat" pitchFamily="34" charset="-120"/>
              </a:rPr>
              <a:t>Platform Penetration by Lender Type (Reality-Checked)</a:t>
            </a:r>
            <a:endParaRPr lang="en-US" dirty="0"/>
          </a:p>
        </p:txBody>
      </p:sp>
      <p:sp>
        <p:nvSpPr>
          <p:cNvPr id="14" name="Object 13"/>
          <p:cNvSpPr/>
          <p:nvPr/>
        </p:nvSpPr>
        <p:spPr>
          <a:xfrm>
            <a:off x="6475381" y="4906410"/>
            <a:ext cx="5551687" cy="1199850"/>
          </a:xfrm>
          <a:prstGeom prst="rect">
            <a:avLst/>
          </a:prstGeom>
          <a:noFill/>
        </p:spPr>
        <p:txBody>
          <a:bodyPr wrap="square" rtlCol="0" anchor="t" bIns="0" lIns="0" rIns="0" tIns="0"/>
          <a:lstStyle/>
          <a:p>
            <a:pPr algn="l">
              <a:lnSpc>
                <a:spcPts val="1575"/>
              </a:lnSpc>
              <a:spcBef>
                <a:spcPts val="848"/>
              </a:spcBef>
              <a:buNone/>
            </a:pPr>
            <a:r>
              <a:rPr lang="en-US" sz="1125" dirty="0" smtClean="0">
                <a:solidFill>
                  <a:srgbClr val="5a5a4c"/>
                </a:solidFill>
                <a:latin typeface="Montserrat" pitchFamily="34" charset="0"/>
                <a:ea typeface="Montserrat" pitchFamily="34" charset="-122"/>
                <a:cs typeface="Montserrat" pitchFamily="34" charset="-120"/>
              </a:rPr>
              <a:t>Lender Type Penetration Rate Notes Non-captive 50-70% Farm Credit, community banks interested in neutral distribution Captive finance 0-30% Unlikely to route through neutral platform; prefer their own Relationship lenders 20-40% Dealers have strong preferences; owner overrides common Blended reality 25-40% NOT 40-50% as originally assumed</a:t>
            </a:r>
            <a:endParaRPr lang="en-US" dirty="0"/>
          </a:p>
        </p:txBody>
      </p:sp>
    </p:spTree>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Total Addressable Market (TAM)</a:t>
            </a:r>
            <a:endParaRPr lang="en-US" dirty="0"/>
          </a:p>
        </p:txBody>
      </p:sp>
      <p:sp>
        <p:nvSpPr>
          <p:cNvPr id="3" name="Object 2"/>
          <p:cNvSpPr/>
          <p:nvPr/>
        </p:nvSpPr>
        <p:spPr>
          <a:xfrm>
            <a:off x="476131" y="1580755"/>
            <a:ext cx="11236690" cy="4637515"/>
          </a:xfrm>
          <a:prstGeom prst="rect">
            <a:avLst/>
          </a:prstGeom>
          <a:solidFill>
            <a:srgbClr val="000000">
              <a:alpha val="0000"/>
            </a:srgbClr>
          </a:solidFill>
        </p:spPr>
      </p:sp>
      <p:pic>
        <p:nvPicPr>
          <p:cNvPr id="4" name="Object 3"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6131" y="1580755"/>
            <a:ext cx="11255735" cy="4656561"/>
          </a:xfrm>
          <a:prstGeom prst="rect">
            <a:avLst/>
          </a:prstGeom>
        </p:spPr>
      </p:pic>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131" y="1580755"/>
            <a:ext cx="11236690" cy="4647038"/>
          </a:xfrm>
          <a:prstGeom prst="rect">
            <a:avLst/>
          </a:prstGeom>
        </p:spPr>
      </p:pic>
      <p:sp>
        <p:nvSpPr>
          <p:cNvPr id="6" name="Object 5"/>
          <p:cNvSpPr/>
          <p:nvPr/>
        </p:nvSpPr>
        <p:spPr>
          <a:xfrm>
            <a:off x="476131" y="1580755"/>
            <a:ext cx="3745563" cy="732239"/>
          </a:xfrm>
          <a:prstGeom prst="rect">
            <a:avLst/>
          </a:prstGeom>
          <a:noFill/>
        </p:spPr>
        <p:txBody>
          <a:bodyPr wrap="square" rtlCol="0" anchor="ctr">
            <a:normAutofit fontScale="85000" lnSpcReduction="20000"/>
          </a:bodyPr>
          <a:lstStyle/>
          <a:p>
            <a:pPr algn="ctr">
              <a:buNone/>
            </a:pPr>
            <a:r>
              <a:rPr lang="en-US" sz="2000" dirty="0" smtClean="0">
                <a:solidFill>
                  <a:srgbClr val="ffffff"/>
                </a:solidFill>
                <a:latin typeface="Montserrat Regular" pitchFamily="34" charset="0"/>
                <a:ea typeface="Montserrat Regular" pitchFamily="34" charset="-122"/>
                <a:cs typeface="Montserrat Regular" pitchFamily="34" charset="-120"/>
              </a:rPr>
              <a:t>Market Category</a:t>
            </a:r>
            <a:endParaRPr lang="en-US" dirty="0"/>
          </a:p>
        </p:txBody>
      </p:sp>
      <p:sp>
        <p:nvSpPr>
          <p:cNvPr id="7" name="Object 6"/>
          <p:cNvSpPr/>
          <p:nvPr/>
        </p:nvSpPr>
        <p:spPr>
          <a:xfrm>
            <a:off x="4221694" y="1580755"/>
            <a:ext cx="3745563" cy="732239"/>
          </a:xfrm>
          <a:prstGeom prst="rect">
            <a:avLst/>
          </a:prstGeom>
          <a:noFill/>
        </p:spPr>
        <p:txBody>
          <a:bodyPr wrap="square" rtlCol="0" anchor="ctr">
            <a:normAutofit fontScale="85000" lnSpcReduction="20000"/>
          </a:bodyPr>
          <a:lstStyle/>
          <a:p>
            <a:pPr algn="ctr">
              <a:buNone/>
            </a:pPr>
            <a:r>
              <a:rPr lang="en-US" sz="2000" dirty="0" smtClean="0">
                <a:solidFill>
                  <a:srgbClr val="ffffff"/>
                </a:solidFill>
                <a:latin typeface="Montserrat Regular" pitchFamily="34" charset="0"/>
                <a:ea typeface="Montserrat Regular" pitchFamily="34" charset="-122"/>
                <a:cs typeface="Montserrat Regular" pitchFamily="34" charset="-120"/>
              </a:rPr>
              <a:t>Value</a:t>
            </a:r>
            <a:endParaRPr lang="en-US" dirty="0"/>
          </a:p>
        </p:txBody>
      </p:sp>
      <p:sp>
        <p:nvSpPr>
          <p:cNvPr id="8" name="Object 7"/>
          <p:cNvSpPr/>
          <p:nvPr/>
        </p:nvSpPr>
        <p:spPr>
          <a:xfrm>
            <a:off x="7967258" y="1580755"/>
            <a:ext cx="3745563" cy="732239"/>
          </a:xfrm>
          <a:prstGeom prst="rect">
            <a:avLst/>
          </a:prstGeom>
          <a:noFill/>
        </p:spPr>
        <p:txBody>
          <a:bodyPr wrap="square" rtlCol="0" anchor="ctr">
            <a:normAutofit fontScale="85000" lnSpcReduction="20000"/>
          </a:bodyPr>
          <a:lstStyle/>
          <a:p>
            <a:pPr algn="ctr">
              <a:buNone/>
            </a:pPr>
            <a:r>
              <a:rPr lang="en-US" sz="2000" dirty="0" smtClean="0">
                <a:solidFill>
                  <a:srgbClr val="ffffff"/>
                </a:solidFill>
                <a:latin typeface="Montserrat Regular" pitchFamily="34" charset="0"/>
                <a:ea typeface="Montserrat Regular" pitchFamily="34" charset="-122"/>
                <a:cs typeface="Montserrat Regular" pitchFamily="34" charset="-120"/>
              </a:rPr>
              <a:t>Source</a:t>
            </a:r>
            <a:endParaRPr lang="en-US" dirty="0"/>
          </a:p>
        </p:txBody>
      </p:sp>
      <p:sp>
        <p:nvSpPr>
          <p:cNvPr id="9" name="Object 8"/>
          <p:cNvSpPr/>
          <p:nvPr/>
        </p:nvSpPr>
        <p:spPr>
          <a:xfrm>
            <a:off x="476131" y="2312994"/>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U.S. farm equipment purchases annually</a:t>
            </a:r>
            <a:endParaRPr lang="en-US" dirty="0"/>
          </a:p>
        </p:txBody>
      </p:sp>
      <p:sp>
        <p:nvSpPr>
          <p:cNvPr id="10" name="Object 9"/>
          <p:cNvSpPr/>
          <p:nvPr/>
        </p:nvSpPr>
        <p:spPr>
          <a:xfrm>
            <a:off x="4221694" y="2312994"/>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$45-70 billion</a:t>
            </a:r>
            <a:endParaRPr lang="en-US" dirty="0"/>
          </a:p>
        </p:txBody>
      </p:sp>
      <p:sp>
        <p:nvSpPr>
          <p:cNvPr id="11" name="Object 10"/>
          <p:cNvSpPr/>
          <p:nvPr/>
        </p:nvSpPr>
        <p:spPr>
          <a:xfrm>
            <a:off x="7967258" y="2312994"/>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USDA NASS 2024[8]</a:t>
            </a:r>
            <a:endParaRPr lang="en-US" dirty="0"/>
          </a:p>
        </p:txBody>
      </p:sp>
      <p:sp>
        <p:nvSpPr>
          <p:cNvPr id="12" name="Object 11"/>
          <p:cNvSpPr/>
          <p:nvPr/>
        </p:nvSpPr>
        <p:spPr>
          <a:xfrm>
            <a:off x="476131" y="3289313"/>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Tractors + self-propelled machinery</a:t>
            </a:r>
            <a:endParaRPr lang="en-US" dirty="0"/>
          </a:p>
        </p:txBody>
      </p:sp>
      <p:sp>
        <p:nvSpPr>
          <p:cNvPr id="13" name="Object 12"/>
          <p:cNvSpPr/>
          <p:nvPr/>
        </p:nvSpPr>
        <p:spPr>
          <a:xfrm>
            <a:off x="4221694" y="3289313"/>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$21.0 billion (44% of total)</a:t>
            </a:r>
            <a:endParaRPr lang="en-US" dirty="0"/>
          </a:p>
        </p:txBody>
      </p:sp>
      <p:sp>
        <p:nvSpPr>
          <p:cNvPr id="14" name="Object 13"/>
          <p:cNvSpPr/>
          <p:nvPr/>
        </p:nvSpPr>
        <p:spPr>
          <a:xfrm>
            <a:off x="7967258" y="3289313"/>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USDA NASS 2024[8]</a:t>
            </a:r>
            <a:endParaRPr lang="en-US" dirty="0"/>
          </a:p>
        </p:txBody>
      </p:sp>
      <p:sp>
        <p:nvSpPr>
          <p:cNvPr id="15" name="Object 14"/>
          <p:cNvSpPr/>
          <p:nvPr/>
        </p:nvSpPr>
        <p:spPr>
          <a:xfrm>
            <a:off x="476131" y="4265632"/>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Equipment financed vs. cash</a:t>
            </a:r>
            <a:endParaRPr lang="en-US" dirty="0"/>
          </a:p>
        </p:txBody>
      </p:sp>
      <p:sp>
        <p:nvSpPr>
          <p:cNvPr id="16" name="Object 15"/>
          <p:cNvSpPr/>
          <p:nvPr/>
        </p:nvSpPr>
        <p:spPr>
          <a:xfrm>
            <a:off x="4221694" y="4265632"/>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$25-27 billion (45-55% penetration)</a:t>
            </a:r>
            <a:endParaRPr lang="en-US" dirty="0"/>
          </a:p>
        </p:txBody>
      </p:sp>
      <p:sp>
        <p:nvSpPr>
          <p:cNvPr id="17" name="Object 16"/>
          <p:cNvSpPr/>
          <p:nvPr/>
        </p:nvSpPr>
        <p:spPr>
          <a:xfrm>
            <a:off x="7967258" y="4265632"/>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USDA ERS surveys[10]</a:t>
            </a:r>
            <a:endParaRPr lang="en-US" dirty="0"/>
          </a:p>
        </p:txBody>
      </p:sp>
      <p:sp>
        <p:nvSpPr>
          <p:cNvPr id="18" name="Object 17"/>
          <p:cNvSpPr/>
          <p:nvPr/>
        </p:nvSpPr>
        <p:spPr>
          <a:xfrm>
            <a:off x="476131" y="5241951"/>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Dealer-originated finance (our TAM)</a:t>
            </a:r>
            <a:endParaRPr lang="en-US" dirty="0"/>
          </a:p>
        </p:txBody>
      </p:sp>
      <p:sp>
        <p:nvSpPr>
          <p:cNvPr id="19" name="Object 18"/>
          <p:cNvSpPr/>
          <p:nvPr/>
        </p:nvSpPr>
        <p:spPr>
          <a:xfrm>
            <a:off x="4221694" y="5241951"/>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$14.6 billion annually</a:t>
            </a:r>
            <a:endParaRPr lang="en-US" dirty="0"/>
          </a:p>
        </p:txBody>
      </p:sp>
      <p:sp>
        <p:nvSpPr>
          <p:cNvPr id="20" name="Object 19"/>
          <p:cNvSpPr/>
          <p:nvPr/>
        </p:nvSpPr>
        <p:spPr>
          <a:xfrm>
            <a:off x="7967258" y="5241951"/>
            <a:ext cx="3745563" cy="976319"/>
          </a:xfrm>
          <a:prstGeom prst="rect">
            <a:avLst/>
          </a:prstGeom>
          <a:noFill/>
        </p:spPr>
        <p:txBody>
          <a:bodyPr wrap="square" rtlCol="0" anchor="ctr">
            <a:normAutofit fontScale="85000" lnSpcReduction="20000"/>
          </a:bodyPr>
          <a:lstStyle/>
          <a:p>
            <a:pPr algn="ctr">
              <a:buNone/>
            </a:pPr>
            <a:r>
              <a:rPr lang="en-US" sz="2000" dirty="0" smtClean="0">
                <a:solidFill>
                  <a:srgbClr val="2a2921"/>
                </a:solidFill>
                <a:latin typeface="Montserrat Regular" pitchFamily="34" charset="0"/>
                <a:ea typeface="Montserrat Regular" pitchFamily="34" charset="-122"/>
                <a:cs typeface="Montserrat Regular" pitchFamily="34" charset="-120"/>
              </a:rPr>
              <a:t>Grand View Research[1], validated by primary interviews</a:t>
            </a:r>
            <a:endParaRPr lang="en-US" dirty="0"/>
          </a:p>
        </p:txBody>
      </p:sp>
      <p:sp>
        <p:nvSpPr>
          <p:cNvPr id="21" name="Object 20"/>
          <p:cNvSpPr/>
          <p:nvPr/>
        </p:nvSpPr>
        <p:spPr>
          <a:xfrm>
            <a:off x="-476131" y="6366109"/>
            <a:ext cx="12188952" cy="341148"/>
          </a:xfrm>
          <a:prstGeom prst="rect">
            <a:avLst/>
          </a:prstGeom>
          <a:noFill/>
        </p:spPr>
        <p:txBody>
          <a:bodyPr wrap="square" rtlCol="0" anchor="t" bIns="0" lIns="0" rIns="0" tIns="0"/>
          <a:lstStyle/>
          <a:p>
            <a:pPr algn="r">
              <a:lnSpc>
                <a:spcPts val="1344"/>
              </a:lnSpc>
              <a:buNone/>
            </a:pPr>
            <a:r>
              <a:rPr lang="en-US" sz="960" dirty="0" smtClean="0">
                <a:solidFill>
                  <a:srgbClr val="5a5a4c"/>
                </a:solidFill>
                <a:latin typeface="Montserrat" pitchFamily="34" charset="0"/>
                <a:ea typeface="Montserrat" pitchFamily="34" charset="-122"/>
                <a:cs typeface="Montserrat" pitchFamily="34" charset="-120"/>
              </a:rPr>
              <a:t>*The U.S. farm equipment purchases market totals approximately $45-70 billion annually[8] across 2.1 million farms[9]. However, not all equipment is financed; farmers use a mix of cash, leasing, and debt instruments.</a:t>
            </a:r>
            <a:endParaRPr lang="en-US" dirty="0"/>
          </a:p>
        </p:txBody>
      </p:sp>
    </p:spTree>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Serviceable Addressable Market (SAM)</a:t>
            </a:r>
            <a:endParaRPr lang="en-US" dirty="0"/>
          </a:p>
        </p:txBody>
      </p:sp>
      <p:pic>
        <p:nvPicPr>
          <p:cNvPr id="3" name="Object 2"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3" y="3970932"/>
            <a:ext cx="12207997" cy="38090"/>
          </a:xfrm>
          <a:prstGeom prst="rect">
            <a:avLst/>
          </a:prstGeom>
        </p:spPr>
      </p:pic>
      <p:pic>
        <p:nvPicPr>
          <p:cNvPr id="4" name="Object 3"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00046" y="2837741"/>
            <a:ext cx="19045" cy="1161759"/>
          </a:xfrm>
          <a:prstGeom prst="rect">
            <a:avLst/>
          </a:prstGeom>
        </p:spPr>
      </p:pic>
      <p:pic>
        <p:nvPicPr>
          <p:cNvPr id="5" name="Object 4"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2433" y="3923319"/>
            <a:ext cx="114271" cy="114271"/>
          </a:xfrm>
          <a:prstGeom prst="rect">
            <a:avLst/>
          </a:prstGeom>
        </p:spPr>
      </p:pic>
      <p:pic>
        <p:nvPicPr>
          <p:cNvPr id="6" name="Object 5"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09716" y="3970932"/>
            <a:ext cx="19045" cy="1161759"/>
          </a:xfrm>
          <a:prstGeom prst="rect">
            <a:avLst/>
          </a:prstGeom>
        </p:spPr>
      </p:pic>
      <p:pic>
        <p:nvPicPr>
          <p:cNvPr id="7" name="Object 6" descr="">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62102" y="3923319"/>
            <a:ext cx="114271" cy="114271"/>
          </a:xfrm>
          <a:prstGeom prst="rect">
            <a:avLst/>
          </a:prstGeom>
        </p:spPr>
      </p:pic>
      <p:pic>
        <p:nvPicPr>
          <p:cNvPr id="8" name="Object 7" descr="">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19292" y="2837741"/>
            <a:ext cx="19045" cy="1161759"/>
          </a:xfrm>
          <a:prstGeom prst="rect">
            <a:avLst/>
          </a:prstGeom>
        </p:spPr>
      </p:pic>
      <p:pic>
        <p:nvPicPr>
          <p:cNvPr id="9" name="Object 8" descr="">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671679" y="3923319"/>
            <a:ext cx="114271" cy="114271"/>
          </a:xfrm>
          <a:prstGeom prst="rect">
            <a:avLst/>
          </a:prstGeom>
        </p:spPr>
      </p:pic>
      <p:pic>
        <p:nvPicPr>
          <p:cNvPr id="10" name="Object 9" descr="">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628861" y="3970932"/>
            <a:ext cx="19045" cy="1028443"/>
          </a:xfrm>
          <a:prstGeom prst="rect">
            <a:avLst/>
          </a:prstGeom>
        </p:spPr>
      </p:pic>
      <p:pic>
        <p:nvPicPr>
          <p:cNvPr id="11" name="Object 10" descr="">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581248" y="3923319"/>
            <a:ext cx="114271" cy="114271"/>
          </a:xfrm>
          <a:prstGeom prst="rect">
            <a:avLst/>
          </a:prstGeom>
        </p:spPr>
      </p:pic>
      <p:pic>
        <p:nvPicPr>
          <p:cNvPr id="12" name="Object 11" descr="">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538522" y="2837741"/>
            <a:ext cx="19045" cy="1161759"/>
          </a:xfrm>
          <a:prstGeom prst="rect">
            <a:avLst/>
          </a:prstGeom>
        </p:spPr>
      </p:pic>
      <p:pic>
        <p:nvPicPr>
          <p:cNvPr id="13" name="Object 12" descr="">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490909" y="3923319"/>
            <a:ext cx="114271" cy="114271"/>
          </a:xfrm>
          <a:prstGeom prst="rect">
            <a:avLst/>
          </a:prstGeom>
        </p:spPr>
      </p:pic>
      <p:sp>
        <p:nvSpPr>
          <p:cNvPr id="14" name="Object 13"/>
          <p:cNvSpPr/>
          <p:nvPr/>
        </p:nvSpPr>
        <p:spPr>
          <a:xfrm>
            <a:off x="1842861" y="2713946"/>
            <a:ext cx="133317" cy="133317"/>
          </a:xfrm>
          <a:prstGeom prst="ellipse">
            <a:avLst/>
          </a:prstGeom>
          <a:solidFill>
            <a:srgbClr val="62a8bb"/>
          </a:solidFill>
        </p:spPr>
      </p:sp>
      <p:sp>
        <p:nvSpPr>
          <p:cNvPr id="15" name="Object 14"/>
          <p:cNvSpPr/>
          <p:nvPr/>
        </p:nvSpPr>
        <p:spPr>
          <a:xfrm>
            <a:off x="2071487" y="2665429"/>
            <a:ext cx="1644556" cy="460657"/>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45% of U.S. farm operations</a:t>
            </a:r>
            <a:endParaRPr lang="en-US" dirty="0"/>
          </a:p>
        </p:txBody>
      </p:sp>
      <p:sp>
        <p:nvSpPr>
          <p:cNvPr id="16" name="Object 15"/>
          <p:cNvSpPr/>
          <p:nvPr/>
        </p:nvSpPr>
        <p:spPr>
          <a:xfrm>
            <a:off x="2071487" y="3211908"/>
            <a:ext cx="1644556" cy="213307"/>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Midwest focus</a:t>
            </a:r>
            <a:endParaRPr lang="en-US" dirty="0"/>
          </a:p>
        </p:txBody>
      </p:sp>
      <p:sp>
        <p:nvSpPr>
          <p:cNvPr id="17" name="Object 16"/>
          <p:cNvSpPr/>
          <p:nvPr/>
        </p:nvSpPr>
        <p:spPr>
          <a:xfrm>
            <a:off x="3752507" y="5113646"/>
            <a:ext cx="133317" cy="133317"/>
          </a:xfrm>
          <a:prstGeom prst="ellipse">
            <a:avLst/>
          </a:prstGeom>
          <a:solidFill>
            <a:srgbClr val="4f93af"/>
          </a:solidFill>
        </p:spPr>
      </p:sp>
      <p:sp>
        <p:nvSpPr>
          <p:cNvPr id="18" name="Object 17"/>
          <p:cNvSpPr/>
          <p:nvPr/>
        </p:nvSpPr>
        <p:spPr>
          <a:xfrm>
            <a:off x="3981089" y="5065129"/>
            <a:ext cx="1958803" cy="460657"/>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52% of equipment purchasing activity</a:t>
            </a:r>
            <a:endParaRPr lang="en-US" dirty="0"/>
          </a:p>
        </p:txBody>
      </p:sp>
      <p:sp>
        <p:nvSpPr>
          <p:cNvPr id="19" name="Object 18"/>
          <p:cNvSpPr/>
          <p:nvPr/>
        </p:nvSpPr>
        <p:spPr>
          <a:xfrm>
            <a:off x="3981089" y="5611608"/>
            <a:ext cx="1958803" cy="213307"/>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Midwest leads</a:t>
            </a:r>
            <a:endParaRPr lang="en-US" dirty="0"/>
          </a:p>
        </p:txBody>
      </p:sp>
      <p:sp>
        <p:nvSpPr>
          <p:cNvPr id="20" name="Object 19"/>
          <p:cNvSpPr/>
          <p:nvPr/>
        </p:nvSpPr>
        <p:spPr>
          <a:xfrm>
            <a:off x="5662153" y="2713946"/>
            <a:ext cx="133317" cy="133317"/>
          </a:xfrm>
          <a:prstGeom prst="ellipse">
            <a:avLst/>
          </a:prstGeom>
          <a:solidFill>
            <a:srgbClr val="3b7fa4"/>
          </a:solidFill>
        </p:spPr>
      </p:sp>
      <p:sp>
        <p:nvSpPr>
          <p:cNvPr id="21" name="Object 20"/>
          <p:cNvSpPr/>
          <p:nvPr/>
        </p:nvSpPr>
        <p:spPr>
          <a:xfrm>
            <a:off x="5890692" y="2665429"/>
            <a:ext cx="1864529" cy="460657"/>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8,000 dealers in 7-state region</a:t>
            </a:r>
            <a:endParaRPr lang="en-US" dirty="0"/>
          </a:p>
        </p:txBody>
      </p:sp>
      <p:sp>
        <p:nvSpPr>
          <p:cNvPr id="22" name="Object 21"/>
          <p:cNvSpPr/>
          <p:nvPr/>
        </p:nvSpPr>
        <p:spPr>
          <a:xfrm>
            <a:off x="5890692" y="3211908"/>
            <a:ext cx="1864529" cy="426613"/>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Equipment dealer density</a:t>
            </a:r>
            <a:endParaRPr lang="en-US" dirty="0"/>
          </a:p>
        </p:txBody>
      </p:sp>
      <p:sp>
        <p:nvSpPr>
          <p:cNvPr id="23" name="Object 22"/>
          <p:cNvSpPr/>
          <p:nvPr/>
        </p:nvSpPr>
        <p:spPr>
          <a:xfrm>
            <a:off x="7571675" y="4987115"/>
            <a:ext cx="133317" cy="133317"/>
          </a:xfrm>
          <a:prstGeom prst="ellipse">
            <a:avLst/>
          </a:prstGeom>
          <a:solidFill>
            <a:srgbClr val="286a98"/>
          </a:solidFill>
        </p:spPr>
      </p:sp>
      <p:sp>
        <p:nvSpPr>
          <p:cNvPr id="24" name="Object 23"/>
          <p:cNvSpPr/>
          <p:nvPr/>
        </p:nvSpPr>
        <p:spPr>
          <a:xfrm>
            <a:off x="7800294" y="4938668"/>
            <a:ext cx="1571232" cy="690985"/>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280 active agricultural lenders</a:t>
            </a:r>
            <a:endParaRPr lang="en-US" dirty="0"/>
          </a:p>
        </p:txBody>
      </p:sp>
      <p:sp>
        <p:nvSpPr>
          <p:cNvPr id="25" name="Object 24"/>
          <p:cNvSpPr/>
          <p:nvPr/>
        </p:nvSpPr>
        <p:spPr>
          <a:xfrm>
            <a:off x="7800294" y="5715476"/>
            <a:ext cx="1571232" cy="639920"/>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Farm Credit, community banks, captive finance</a:t>
            </a:r>
            <a:endParaRPr lang="en-US" dirty="0"/>
          </a:p>
        </p:txBody>
      </p:sp>
      <p:sp>
        <p:nvSpPr>
          <p:cNvPr id="26" name="Object 25"/>
          <p:cNvSpPr/>
          <p:nvPr/>
        </p:nvSpPr>
        <p:spPr>
          <a:xfrm>
            <a:off x="9481322" y="2713946"/>
            <a:ext cx="133317" cy="133317"/>
          </a:xfrm>
          <a:prstGeom prst="ellipse">
            <a:avLst/>
          </a:prstGeom>
          <a:solidFill>
            <a:srgbClr val="14558c"/>
          </a:solidFill>
        </p:spPr>
      </p:sp>
      <p:sp>
        <p:nvSpPr>
          <p:cNvPr id="27" name="Object 26"/>
          <p:cNvSpPr/>
          <p:nvPr/>
        </p:nvSpPr>
        <p:spPr>
          <a:xfrm>
            <a:off x="9709897" y="2665429"/>
            <a:ext cx="1885479" cy="460657"/>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85B in agricultural loans (Midwest)</a:t>
            </a:r>
            <a:endParaRPr lang="en-US" dirty="0"/>
          </a:p>
        </p:txBody>
      </p:sp>
      <p:sp>
        <p:nvSpPr>
          <p:cNvPr id="28" name="Object 27"/>
          <p:cNvSpPr/>
          <p:nvPr/>
        </p:nvSpPr>
        <p:spPr>
          <a:xfrm>
            <a:off x="9709897" y="3211908"/>
            <a:ext cx="1885479" cy="213307"/>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Farm Credit presence</a:t>
            </a:r>
            <a:endParaRPr lang="en-US" dirty="0"/>
          </a:p>
        </p:txBody>
      </p:sp>
    </p:spTree>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Serviceable Obtainable Market (SOM)</a:t>
            </a:r>
            <a:endParaRPr lang="en-US" dirty="0"/>
          </a:p>
        </p:txBody>
      </p:sp>
      <p:sp>
        <p:nvSpPr>
          <p:cNvPr id="3" name="Object 2"/>
          <p:cNvSpPr/>
          <p:nvPr/>
        </p:nvSpPr>
        <p:spPr>
          <a:xfrm>
            <a:off x="952262" y="1561114"/>
            <a:ext cx="5446938" cy="4421709"/>
          </a:xfrm>
          <a:prstGeom prst="rect">
            <a:avLst/>
          </a:prstGeom>
          <a:noFill/>
        </p:spPr>
        <p:txBody>
          <a:bodyPr wrap="square" rtlCol="0" anchor="t" bIns="0" lIns="0" rIns="0" tIns="0"/>
          <a:lstStyle/>
          <a:p>
            <a:pPr algn="l" marL="242900" indent="-242900">
              <a:lnSpc>
                <a:spcPts val="2722"/>
              </a:lnSpc>
              <a:buSzPct val="100000"/>
              <a:buChar char="•"/>
            </a:pPr>
            <a:r>
              <a:rPr lang="en-US" sz="2160" dirty="0" smtClean="0">
                <a:solidFill>
                  <a:srgbClr val="2a2921"/>
                </a:solidFill>
                <a:latin typeface="Montserrat" pitchFamily="34" charset="0"/>
                <a:ea typeface="Montserrat" pitchFamily="34" charset="-122"/>
                <a:cs typeface="Montserrat" pitchFamily="34" charset="-120"/>
              </a:rPr>
              <a:t>Phased, Reality-Checked Dealer Adoption Model</a:t>
            </a:r>
          </a:p>
          <a:p>
            <a:pPr algn="l" lvl="1">
              <a:lnSpc>
                <a:spcPts val="1932"/>
              </a:lnSpc>
              <a:spcBef>
                <a:spcPts val="404"/>
              </a:spcBef>
              <a:buNone/>
            </a:pPr>
            <a:r>
              <a:rPr lang="en-US" sz="1380" dirty="0" smtClean="0">
                <a:solidFill>
                  <a:srgbClr val="5a5a4c"/>
                </a:solidFill>
                <a:latin typeface="Montserrat" pitchFamily="34" charset="0"/>
                <a:ea typeface="Montserrat" pitchFamily="34" charset="-122"/>
                <a:cs typeface="Montserrat" pitchFamily="34" charset="-120"/>
              </a:rPr>
              <a:t>Outlines a step-by-step plan for scaling from a pilot with 10-15 dealers to a mature Midwest presence of 750 dealers over a 5-year period.</a:t>
            </a:r>
          </a:p>
          <a:p>
            <a:pPr algn="l" marL="242900" indent="-242900">
              <a:lnSpc>
                <a:spcPts val="2722"/>
              </a:lnSpc>
              <a:spcBef>
                <a:spcPts val="2609"/>
              </a:spcBef>
              <a:buSzPct val="100000"/>
              <a:buChar char="•"/>
            </a:pPr>
            <a:r>
              <a:rPr lang="en-US" sz="2160" dirty="0" smtClean="0">
                <a:solidFill>
                  <a:srgbClr val="2a2921"/>
                </a:solidFill>
                <a:latin typeface="Montserrat" pitchFamily="34" charset="0"/>
                <a:ea typeface="Montserrat" pitchFamily="34" charset="-122"/>
                <a:cs typeface="Montserrat" pitchFamily="34" charset="-120"/>
              </a:rPr>
              <a:t>Validation Pilot (Months 1-6)</a:t>
            </a:r>
          </a:p>
          <a:p>
            <a:pPr algn="l" lvl="1">
              <a:lnSpc>
                <a:spcPts val="1932"/>
              </a:lnSpc>
              <a:spcBef>
                <a:spcPts val="404"/>
              </a:spcBef>
              <a:buNone/>
            </a:pPr>
            <a:r>
              <a:rPr lang="en-US" sz="1380" dirty="0" smtClean="0">
                <a:solidFill>
                  <a:srgbClr val="5a5a4c"/>
                </a:solidFill>
                <a:latin typeface="Montserrat" pitchFamily="34" charset="0"/>
                <a:ea typeface="Montserrat" pitchFamily="34" charset="-122"/>
                <a:cs typeface="Montserrat" pitchFamily="34" charset="-120"/>
              </a:rPr>
              <a:t>Focuses on validating the core workflow with a small beta group of 10-15 dealers, integrating 2-3 lenders, and achieving $50 million in financed volume.</a:t>
            </a:r>
          </a:p>
          <a:p>
            <a:pPr algn="l" marL="242900" indent="-242900">
              <a:lnSpc>
                <a:spcPts val="2722"/>
              </a:lnSpc>
              <a:spcBef>
                <a:spcPts val="2609"/>
              </a:spcBef>
              <a:buSzPct val="100000"/>
              <a:buChar char="•"/>
            </a:pPr>
            <a:r>
              <a:rPr lang="en-US" sz="2160" dirty="0" smtClean="0">
                <a:solidFill>
                  <a:srgbClr val="2a2921"/>
                </a:solidFill>
                <a:latin typeface="Montserrat" pitchFamily="34" charset="0"/>
                <a:ea typeface="Montserrat" pitchFamily="34" charset="-122"/>
                <a:cs typeface="Montserrat" pitchFamily="34" charset="-120"/>
              </a:rPr>
              <a:t>Midwest Expansion (Months 7-18)</a:t>
            </a:r>
          </a:p>
          <a:p>
            <a:pPr algn="l" lvl="1">
              <a:lnSpc>
                <a:spcPts val="1932"/>
              </a:lnSpc>
              <a:spcBef>
                <a:spcPts val="404"/>
              </a:spcBef>
              <a:buNone/>
            </a:pPr>
            <a:r>
              <a:rPr lang="en-US" sz="1380" dirty="0" smtClean="0">
                <a:solidFill>
                  <a:srgbClr val="5a5a4c"/>
                </a:solidFill>
                <a:latin typeface="Montserrat" pitchFamily="34" charset="0"/>
                <a:ea typeface="Montserrat" pitchFamily="34" charset="-122"/>
                <a:cs typeface="Montserrat" pitchFamily="34" charset="-120"/>
              </a:rPr>
              <a:t>Scales the platform from the pilot to 40-60 live dealers, expands the lender network to 8-12 partners, and aims to reach $1.2 billion in financed volume.</a:t>
            </a:r>
            <a:endParaRPr lang="en-US" dirty="0"/>
          </a:p>
        </p:txBody>
      </p:sp>
      <p:sp>
        <p:nvSpPr>
          <p:cNvPr id="4" name="Object 3"/>
          <p:cNvSpPr/>
          <p:nvPr/>
        </p:nvSpPr>
        <p:spPr>
          <a:xfrm>
            <a:off x="6284928" y="1561114"/>
            <a:ext cx="5446938" cy="4811779"/>
          </a:xfrm>
          <a:prstGeom prst="rect">
            <a:avLst/>
          </a:prstGeom>
          <a:noFill/>
        </p:spPr>
        <p:txBody>
          <a:bodyPr wrap="square" rtlCol="0" anchor="t" bIns="0" lIns="0" rIns="0" tIns="0"/>
          <a:lstStyle/>
          <a:p>
            <a:pPr algn="l" marL="242900" indent="-242900">
              <a:lnSpc>
                <a:spcPts val="2722"/>
              </a:lnSpc>
              <a:buSzPct val="100000"/>
              <a:buChar char="•"/>
            </a:pPr>
            <a:r>
              <a:rPr lang="en-US" sz="2160" dirty="0" smtClean="0">
                <a:solidFill>
                  <a:srgbClr val="2a2921"/>
                </a:solidFill>
                <a:latin typeface="Montserrat" pitchFamily="34" charset="0"/>
                <a:ea typeface="Montserrat" pitchFamily="34" charset="-122"/>
                <a:cs typeface="Montserrat" pitchFamily="34" charset="-120"/>
              </a:rPr>
              <a:t>Regional Scale (Months 19-36)</a:t>
            </a:r>
          </a:p>
          <a:p>
            <a:pPr algn="l" lvl="1">
              <a:lnSpc>
                <a:spcPts val="1932"/>
              </a:lnSpc>
              <a:spcBef>
                <a:spcPts val="404"/>
              </a:spcBef>
              <a:buNone/>
            </a:pPr>
            <a:r>
              <a:rPr lang="en-US" sz="1380" dirty="0" smtClean="0">
                <a:solidFill>
                  <a:srgbClr val="5a5a4c"/>
                </a:solidFill>
                <a:latin typeface="Montserrat" pitchFamily="34" charset="0"/>
                <a:ea typeface="Montserrat" pitchFamily="34" charset="-122"/>
                <a:cs typeface="Montserrat" pitchFamily="34" charset="-120"/>
              </a:rPr>
              <a:t>Grows the dealer network to 300-400 across the Great Plains region, continues lender expansion to 25-35 partners, and targets $2.4 billion in financed volume while achieving profitability.</a:t>
            </a:r>
          </a:p>
          <a:p>
            <a:pPr algn="l" marL="242900" indent="-242900">
              <a:lnSpc>
                <a:spcPts val="2722"/>
              </a:lnSpc>
              <a:spcBef>
                <a:spcPts val="2609"/>
              </a:spcBef>
              <a:buSzPct val="100000"/>
              <a:buChar char="•"/>
            </a:pPr>
            <a:r>
              <a:rPr lang="en-US" sz="2160" dirty="0" smtClean="0">
                <a:solidFill>
                  <a:srgbClr val="2a2921"/>
                </a:solidFill>
                <a:latin typeface="Montserrat" pitchFamily="34" charset="0"/>
                <a:ea typeface="Montserrat" pitchFamily="34" charset="-122"/>
                <a:cs typeface="Montserrat" pitchFamily="34" charset="-120"/>
              </a:rPr>
              <a:t>Mature Midwest (Months 37-60)</a:t>
            </a:r>
          </a:p>
          <a:p>
            <a:pPr algn="l" lvl="1">
              <a:lnSpc>
                <a:spcPts val="1932"/>
              </a:lnSpc>
              <a:spcBef>
                <a:spcPts val="404"/>
              </a:spcBef>
              <a:buNone/>
            </a:pPr>
            <a:r>
              <a:rPr lang="en-US" sz="1380" dirty="0" smtClean="0">
                <a:solidFill>
                  <a:srgbClr val="5a5a4c"/>
                </a:solidFill>
                <a:latin typeface="Montserrat" pitchFamily="34" charset="0"/>
                <a:ea typeface="Montserrat" pitchFamily="34" charset="-122"/>
                <a:cs typeface="Montserrat" pitchFamily="34" charset="-120"/>
              </a:rPr>
              <a:t>Solidifies the platform's position in the Midwest with 750 dealers, maintains a strong lender network, and reaches $3.6 billion in financed volume with a 28% EBITDA margin.</a:t>
            </a:r>
          </a:p>
          <a:p>
            <a:pPr algn="l" marL="242900" indent="-242900">
              <a:lnSpc>
                <a:spcPts val="2722"/>
              </a:lnSpc>
              <a:spcBef>
                <a:spcPts val="2609"/>
              </a:spcBef>
              <a:buSzPct val="100000"/>
              <a:buChar char="•"/>
            </a:pPr>
            <a:r>
              <a:rPr lang="en-US" sz="2160" dirty="0" smtClean="0">
                <a:solidFill>
                  <a:srgbClr val="2a2921"/>
                </a:solidFill>
                <a:latin typeface="Montserrat" pitchFamily="34" charset="0"/>
                <a:ea typeface="Montserrat" pitchFamily="34" charset="-122"/>
                <a:cs typeface="Montserrat" pitchFamily="34" charset="-120"/>
              </a:rPr>
              <a:t>Five-Year Financial Projections</a:t>
            </a:r>
          </a:p>
          <a:p>
            <a:pPr algn="l" lvl="1">
              <a:lnSpc>
                <a:spcPts val="1932"/>
              </a:lnSpc>
              <a:spcBef>
                <a:spcPts val="404"/>
              </a:spcBef>
              <a:buNone/>
            </a:pPr>
            <a:r>
              <a:rPr lang="en-US" sz="1380" dirty="0" smtClean="0">
                <a:solidFill>
                  <a:srgbClr val="5a5a4c"/>
                </a:solidFill>
                <a:latin typeface="Montserrat" pitchFamily="34" charset="0"/>
                <a:ea typeface="Montserrat" pitchFamily="34" charset="-122"/>
                <a:cs typeface="Montserrat" pitchFamily="34" charset="-120"/>
              </a:rPr>
              <a:t>Provides a reality-checked, phased forecast for dealer count, platform volume, revenue, EBITDA margin, and exit valuation across conservative, base case, and upside scenarios.</a:t>
            </a:r>
            <a:endParaRPr lang="en-US" dirty="0"/>
          </a:p>
        </p:txBody>
      </p:sp>
    </p:spTree>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Macro Tailwinds</a:t>
            </a:r>
            <a:endParaRPr lang="en-US" dirty="0"/>
          </a:p>
        </p:txBody>
      </p:sp>
      <p:pic>
        <p:nvPicPr>
          <p:cNvPr id="3" name="Object 2"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3192" y="1856911"/>
            <a:ext cx="3342439" cy="1009398"/>
          </a:xfrm>
          <a:prstGeom prst="rect">
            <a:avLst/>
          </a:prstGeom>
        </p:spPr>
      </p:pic>
      <p:pic>
        <p:nvPicPr>
          <p:cNvPr id="4" name="Object 3"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23" y="1314597"/>
            <a:ext cx="1161759" cy="1456961"/>
          </a:xfrm>
          <a:prstGeom prst="rect">
            <a:avLst/>
          </a:prstGeom>
        </p:spPr>
      </p:pic>
      <p:sp>
        <p:nvSpPr>
          <p:cNvPr id="5" name="Object 4"/>
          <p:cNvSpPr/>
          <p:nvPr/>
        </p:nvSpPr>
        <p:spPr>
          <a:xfrm>
            <a:off x="1333167" y="2205319"/>
            <a:ext cx="2597901" cy="307104"/>
          </a:xfrm>
          <a:prstGeom prst="rect">
            <a:avLst/>
          </a:prstGeom>
          <a:noFill/>
        </p:spPr>
        <p:txBody>
          <a:bodyPr wrap="square" rtlCol="0" anchor="ctr" bIns="0" lIns="0" rIns="0" tIns="0"/>
          <a:lstStyle/>
          <a:p>
            <a:pPr algn="l">
              <a:lnSpc>
                <a:spcPts val="2420"/>
              </a:lnSpc>
              <a:buNone/>
            </a:pPr>
            <a:r>
              <a:rPr lang="en-US" sz="1920" dirty="0" smtClean="0">
                <a:solidFill>
                  <a:srgbClr val="ffffff"/>
                </a:solidFill>
                <a:latin typeface="Montserrat" pitchFamily="34" charset="0"/>
                <a:ea typeface="Montserrat" pitchFamily="34" charset="-122"/>
                <a:cs typeface="Montserrat" pitchFamily="34" charset="-120"/>
              </a:rPr>
              <a:t>Rural Credit Crisis</a:t>
            </a:r>
            <a:endParaRPr lang="en-US" dirty="0"/>
          </a:p>
        </p:txBody>
      </p:sp>
      <p:pic>
        <p:nvPicPr>
          <p:cNvPr id="6" name="Object 5"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3192" y="2937728"/>
            <a:ext cx="5113646" cy="1009398"/>
          </a:xfrm>
          <a:prstGeom prst="rect">
            <a:avLst/>
          </a:prstGeom>
        </p:spPr>
      </p:pic>
      <p:pic>
        <p:nvPicPr>
          <p:cNvPr id="7" name="Object 6"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23" y="2736705"/>
            <a:ext cx="1161759" cy="1114146"/>
          </a:xfrm>
          <a:prstGeom prst="rect">
            <a:avLst/>
          </a:prstGeom>
        </p:spPr>
      </p:pic>
      <p:sp>
        <p:nvSpPr>
          <p:cNvPr id="8" name="Object 7"/>
          <p:cNvSpPr/>
          <p:nvPr/>
        </p:nvSpPr>
        <p:spPr>
          <a:xfrm>
            <a:off x="1333167" y="3286137"/>
            <a:ext cx="4555657" cy="307104"/>
          </a:xfrm>
          <a:prstGeom prst="rect">
            <a:avLst/>
          </a:prstGeom>
          <a:noFill/>
        </p:spPr>
        <p:txBody>
          <a:bodyPr wrap="square" rtlCol="0" anchor="ctr" bIns="0" lIns="0" rIns="0" tIns="0"/>
          <a:lstStyle/>
          <a:p>
            <a:pPr algn="l">
              <a:lnSpc>
                <a:spcPts val="2420"/>
              </a:lnSpc>
              <a:buNone/>
            </a:pPr>
            <a:r>
              <a:rPr lang="en-US" sz="1920" dirty="0" smtClean="0">
                <a:solidFill>
                  <a:srgbClr val="ffffff"/>
                </a:solidFill>
                <a:latin typeface="Montserrat" pitchFamily="34" charset="0"/>
                <a:ea typeface="Montserrat" pitchFamily="34" charset="-122"/>
                <a:cs typeface="Montserrat" pitchFamily="34" charset="-120"/>
              </a:rPr>
              <a:t>Equipment Price Inflation</a:t>
            </a:r>
            <a:endParaRPr lang="en-US" dirty="0"/>
          </a:p>
        </p:txBody>
      </p:sp>
      <p:pic>
        <p:nvPicPr>
          <p:cNvPr id="9" name="Object 8" descr="">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33192" y="4018545"/>
            <a:ext cx="9227418" cy="1009398"/>
          </a:xfrm>
          <a:prstGeom prst="rect">
            <a:avLst/>
          </a:prstGeom>
        </p:spPr>
      </p:pic>
      <p:pic>
        <p:nvPicPr>
          <p:cNvPr id="10" name="Object 9" descr="">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523" y="4113771"/>
            <a:ext cx="1161759" cy="1114146"/>
          </a:xfrm>
          <a:prstGeom prst="rect">
            <a:avLst/>
          </a:prstGeom>
        </p:spPr>
      </p:pic>
      <p:sp>
        <p:nvSpPr>
          <p:cNvPr id="11" name="Object 10"/>
          <p:cNvSpPr/>
          <p:nvPr/>
        </p:nvSpPr>
        <p:spPr>
          <a:xfrm>
            <a:off x="1333167" y="4366954"/>
            <a:ext cx="9073604" cy="307104"/>
          </a:xfrm>
          <a:prstGeom prst="rect">
            <a:avLst/>
          </a:prstGeom>
          <a:noFill/>
        </p:spPr>
        <p:txBody>
          <a:bodyPr wrap="square" rtlCol="0" anchor="ctr" bIns="0" lIns="0" rIns="0" tIns="0"/>
          <a:lstStyle/>
          <a:p>
            <a:pPr algn="l">
              <a:lnSpc>
                <a:spcPts val="2420"/>
              </a:lnSpc>
              <a:buNone/>
            </a:pPr>
            <a:r>
              <a:rPr lang="en-US" sz="1920" dirty="0" smtClean="0">
                <a:solidFill>
                  <a:srgbClr val="ffffff"/>
                </a:solidFill>
                <a:latin typeface="Montserrat" pitchFamily="34" charset="0"/>
                <a:ea typeface="Montserrat" pitchFamily="34" charset="-122"/>
                <a:cs typeface="Montserrat" pitchFamily="34" charset="-120"/>
              </a:rPr>
              <a:t>Dealer Digitization</a:t>
            </a:r>
            <a:endParaRPr lang="en-US" dirty="0"/>
          </a:p>
        </p:txBody>
      </p:sp>
      <p:pic>
        <p:nvPicPr>
          <p:cNvPr id="12" name="Object 11" descr="">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33192" y="5099363"/>
            <a:ext cx="10589152" cy="1009398"/>
          </a:xfrm>
          <a:prstGeom prst="rect">
            <a:avLst/>
          </a:prstGeom>
        </p:spPr>
      </p:pic>
      <p:pic>
        <p:nvPicPr>
          <p:cNvPr id="13" name="Object 12" descr="">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23" y="5194589"/>
            <a:ext cx="1161759" cy="1456961"/>
          </a:xfrm>
          <a:prstGeom prst="rect">
            <a:avLst/>
          </a:prstGeom>
        </p:spPr>
      </p:pic>
      <p:sp>
        <p:nvSpPr>
          <p:cNvPr id="14" name="Object 13"/>
          <p:cNvSpPr/>
          <p:nvPr/>
        </p:nvSpPr>
        <p:spPr>
          <a:xfrm>
            <a:off x="1333167" y="5447771"/>
            <a:ext cx="10570107" cy="307104"/>
          </a:xfrm>
          <a:prstGeom prst="rect">
            <a:avLst/>
          </a:prstGeom>
          <a:noFill/>
        </p:spPr>
        <p:txBody>
          <a:bodyPr wrap="square" rtlCol="0" anchor="ctr" bIns="0" lIns="0" rIns="0" tIns="0"/>
          <a:lstStyle/>
          <a:p>
            <a:pPr algn="l">
              <a:lnSpc>
                <a:spcPts val="2420"/>
              </a:lnSpc>
              <a:buNone/>
            </a:pPr>
            <a:r>
              <a:rPr lang="en-US" sz="1920" dirty="0" smtClean="0">
                <a:solidFill>
                  <a:srgbClr val="ffffff"/>
                </a:solidFill>
                <a:latin typeface="Montserrat" pitchFamily="34" charset="0"/>
                <a:ea typeface="Montserrat" pitchFamily="34" charset="-122"/>
                <a:cs typeface="Montserrat" pitchFamily="34" charset="-120"/>
              </a:rPr>
              <a:t>Green Equipment Finance Growth</a:t>
            </a:r>
            <a:endParaRPr lang="en-US" dirty="0"/>
          </a:p>
        </p:txBody>
      </p:sp>
    </p:spTree>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Stakeholder Pain Points</a:t>
            </a:r>
            <a:endParaRPr lang="en-US" dirty="0"/>
          </a:p>
        </p:txBody>
      </p:sp>
      <p:sp>
        <p:nvSpPr>
          <p:cNvPr id="3" name="Object 2"/>
          <p:cNvSpPr/>
          <p:nvPr/>
        </p:nvSpPr>
        <p:spPr>
          <a:xfrm>
            <a:off x="0" y="1028443"/>
            <a:ext cx="12188952" cy="266633"/>
          </a:xfrm>
          <a:prstGeom prst="rect">
            <a:avLst/>
          </a:prstGeom>
          <a:noFill/>
        </p:spPr>
        <p:txBody>
          <a:bodyPr wrap="square" rtlCol="0" anchor="t" bIns="0" lIns="0" rIns="0" tIns="0"/>
          <a:lstStyle/>
          <a:p>
            <a:pPr algn="ctr">
              <a:lnSpc>
                <a:spcPts val="2100"/>
              </a:lnSpc>
              <a:spcBef>
                <a:spcPts val="919"/>
              </a:spcBef>
              <a:buNone/>
            </a:pPr>
            <a:r>
              <a:rPr lang="en-US" sz="1500" dirty="0" smtClean="0">
                <a:solidFill>
                  <a:srgbClr val="ffffff">
                    <a:alpha val="90000"/>
                  </a:srgbClr>
                </a:solidFill>
                <a:latin typeface="Montserrat" pitchFamily="34" charset="0"/>
                <a:ea typeface="Montserrat" pitchFamily="34" charset="-122"/>
                <a:cs typeface="Montserrat" pitchFamily="34" charset="-120"/>
              </a:rPr>
              <a:t>Key challenges faced by farmers, dealers, and lenders in the agricultural equipment financing market</a:t>
            </a:r>
            <a:endParaRPr lang="en-US" dirty="0"/>
          </a:p>
        </p:txBody>
      </p:sp>
      <p:sp>
        <p:nvSpPr>
          <p:cNvPr id="4" name="Object 3"/>
          <p:cNvSpPr/>
          <p:nvPr/>
        </p:nvSpPr>
        <p:spPr>
          <a:xfrm>
            <a:off x="5157791" y="1856911"/>
            <a:ext cx="70924" cy="952262"/>
          </a:xfrm>
          <a:prstGeom prst="rect">
            <a:avLst/>
          </a:prstGeom>
          <a:noFill/>
          <a:ln w="25400">
            <a:solidFill>
              <a:srgbClr val="62a8bb"/>
            </a:solidFill>
            <a:prstDash val="solid"/>
            <a:miter lim="800000"/>
          </a:ln>
        </p:spPr>
      </p:sp>
      <p:sp>
        <p:nvSpPr>
          <p:cNvPr id="5" name="Object 4"/>
          <p:cNvSpPr/>
          <p:nvPr/>
        </p:nvSpPr>
        <p:spPr>
          <a:xfrm>
            <a:off x="140078" y="2215199"/>
            <a:ext cx="3696585" cy="230328"/>
          </a:xfrm>
          <a:prstGeom prst="rect">
            <a:avLst/>
          </a:prstGeom>
          <a:noFill/>
        </p:spPr>
        <p:txBody>
          <a:bodyPr wrap="square" rtlCol="0" anchor="t" bIns="0" lIns="0" rIns="0" tIns="0"/>
          <a:lstStyle/>
          <a:p>
            <a:pPr algn="r">
              <a:lnSpc>
                <a:spcPts val="1814"/>
              </a:lnSpc>
              <a:buNone/>
            </a:pPr>
            <a:r>
              <a:rPr lang="en-US" sz="1440" dirty="0" smtClean="0">
                <a:solidFill>
                  <a:srgbClr val="ffffff"/>
                </a:solidFill>
                <a:latin typeface="Montserrat" pitchFamily="34" charset="0"/>
                <a:ea typeface="Montserrat" pitchFamily="34" charset="-122"/>
                <a:cs typeface="Montserrat" pitchFamily="34" charset="-120"/>
              </a:rPr>
              <a:t>Farmers: Time to Approval</a:t>
            </a:r>
            <a:endParaRPr lang="en-US" dirty="0"/>
          </a:p>
        </p:txBody>
      </p:sp>
      <p:sp>
        <p:nvSpPr>
          <p:cNvPr id="6" name="Object 5"/>
          <p:cNvSpPr/>
          <p:nvPr/>
        </p:nvSpPr>
        <p:spPr>
          <a:xfrm>
            <a:off x="5371551" y="2061647"/>
            <a:ext cx="333292" cy="533267"/>
          </a:xfrm>
          <a:prstGeom prst="rect">
            <a:avLst/>
          </a:prstGeom>
          <a:noFill/>
        </p:spPr>
        <p:txBody>
          <a:bodyPr wrap="square" rtlCol="0" anchor="ctr" bIns="0" lIns="0" rIns="0" tIns="0"/>
          <a:lstStyle/>
          <a:p>
            <a:pPr algn="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7</a:t>
            </a:r>
            <a:endParaRPr lang="en-US" dirty="0"/>
          </a:p>
        </p:txBody>
      </p:sp>
      <p:sp>
        <p:nvSpPr>
          <p:cNvPr id="7" name="Object 6"/>
          <p:cNvSpPr/>
          <p:nvPr/>
        </p:nvSpPr>
        <p:spPr>
          <a:xfrm>
            <a:off x="5157791" y="2999625"/>
            <a:ext cx="405269" cy="952262"/>
          </a:xfrm>
          <a:prstGeom prst="rect">
            <a:avLst/>
          </a:prstGeom>
          <a:noFill/>
          <a:ln w="25400">
            <a:solidFill>
              <a:srgbClr val="488cab"/>
            </a:solidFill>
            <a:prstDash val="solid"/>
            <a:miter lim="800000"/>
          </a:ln>
        </p:spPr>
      </p:sp>
      <p:sp>
        <p:nvSpPr>
          <p:cNvPr id="8" name="Object 7"/>
          <p:cNvSpPr/>
          <p:nvPr/>
        </p:nvSpPr>
        <p:spPr>
          <a:xfrm>
            <a:off x="140078" y="3243642"/>
            <a:ext cx="3696585" cy="460657"/>
          </a:xfrm>
          <a:prstGeom prst="rect">
            <a:avLst/>
          </a:prstGeom>
          <a:noFill/>
        </p:spPr>
        <p:txBody>
          <a:bodyPr wrap="square" rtlCol="0" anchor="t" bIns="0" lIns="0" rIns="0" tIns="0"/>
          <a:lstStyle/>
          <a:p>
            <a:pPr algn="r">
              <a:lnSpc>
                <a:spcPts val="1814"/>
              </a:lnSpc>
              <a:buNone/>
            </a:pPr>
            <a:r>
              <a:rPr lang="en-US" sz="1440" dirty="0" smtClean="0">
                <a:solidFill>
                  <a:srgbClr val="ffffff"/>
                </a:solidFill>
                <a:latin typeface="Montserrat" pitchFamily="34" charset="0"/>
                <a:ea typeface="Montserrat" pitchFamily="34" charset="-122"/>
                <a:cs typeface="Montserrat" pitchFamily="34" charset="-120"/>
              </a:rPr>
              <a:t>Dealers: Time Spent on Multiple Portals</a:t>
            </a:r>
            <a:endParaRPr lang="en-US" dirty="0"/>
          </a:p>
        </p:txBody>
      </p:sp>
      <p:sp>
        <p:nvSpPr>
          <p:cNvPr id="9" name="Object 8"/>
          <p:cNvSpPr/>
          <p:nvPr/>
        </p:nvSpPr>
        <p:spPr>
          <a:xfrm>
            <a:off x="5690654" y="3204361"/>
            <a:ext cx="691342" cy="533267"/>
          </a:xfrm>
          <a:prstGeom prst="rect">
            <a:avLst/>
          </a:prstGeom>
          <a:noFill/>
        </p:spPr>
        <p:txBody>
          <a:bodyPr wrap="square" rtlCol="0" anchor="ctr" bIns="0" lIns="0" rIns="0" tIns="0"/>
          <a:lstStyle/>
          <a:p>
            <a:pPr algn="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40</a:t>
            </a:r>
            <a:endParaRPr lang="en-US" dirty="0"/>
          </a:p>
        </p:txBody>
      </p:sp>
      <p:sp>
        <p:nvSpPr>
          <p:cNvPr id="10" name="Object 9"/>
          <p:cNvSpPr/>
          <p:nvPr/>
        </p:nvSpPr>
        <p:spPr>
          <a:xfrm>
            <a:off x="5157791" y="4142339"/>
            <a:ext cx="405269" cy="952262"/>
          </a:xfrm>
          <a:prstGeom prst="rect">
            <a:avLst/>
          </a:prstGeom>
          <a:noFill/>
          <a:ln w="25400">
            <a:solidFill>
              <a:srgbClr val="2e719c"/>
            </a:solidFill>
            <a:prstDash val="solid"/>
            <a:miter lim="800000"/>
          </a:ln>
        </p:spPr>
      </p:sp>
      <p:sp>
        <p:nvSpPr>
          <p:cNvPr id="11" name="Object 10"/>
          <p:cNvSpPr/>
          <p:nvPr/>
        </p:nvSpPr>
        <p:spPr>
          <a:xfrm>
            <a:off x="140078" y="4386356"/>
            <a:ext cx="3696585" cy="460657"/>
          </a:xfrm>
          <a:prstGeom prst="rect">
            <a:avLst/>
          </a:prstGeom>
          <a:noFill/>
        </p:spPr>
        <p:txBody>
          <a:bodyPr wrap="square" rtlCol="0" anchor="t" bIns="0" lIns="0" rIns="0" tIns="0"/>
          <a:lstStyle/>
          <a:p>
            <a:pPr algn="r">
              <a:lnSpc>
                <a:spcPts val="1814"/>
              </a:lnSpc>
              <a:buNone/>
            </a:pPr>
            <a:r>
              <a:rPr lang="en-US" sz="1440" dirty="0" smtClean="0">
                <a:solidFill>
                  <a:srgbClr val="ffffff"/>
                </a:solidFill>
                <a:latin typeface="Montserrat" pitchFamily="34" charset="0"/>
                <a:ea typeface="Montserrat" pitchFamily="34" charset="-122"/>
                <a:cs typeface="Montserrat" pitchFamily="34" charset="-120"/>
              </a:rPr>
              <a:t>Lenders: Incomplete Application Rate</a:t>
            </a:r>
            <a:endParaRPr lang="en-US" dirty="0"/>
          </a:p>
        </p:txBody>
      </p:sp>
      <p:sp>
        <p:nvSpPr>
          <p:cNvPr id="12" name="Object 11"/>
          <p:cNvSpPr/>
          <p:nvPr/>
        </p:nvSpPr>
        <p:spPr>
          <a:xfrm>
            <a:off x="5690654" y="4347075"/>
            <a:ext cx="691342" cy="533267"/>
          </a:xfrm>
          <a:prstGeom prst="rect">
            <a:avLst/>
          </a:prstGeom>
          <a:noFill/>
        </p:spPr>
        <p:txBody>
          <a:bodyPr wrap="square" rtlCol="0" anchor="ctr" bIns="0" lIns="0" rIns="0" tIns="0"/>
          <a:lstStyle/>
          <a:p>
            <a:pPr algn="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40</a:t>
            </a:r>
            <a:endParaRPr lang="en-US" dirty="0"/>
          </a:p>
        </p:txBody>
      </p:sp>
      <p:sp>
        <p:nvSpPr>
          <p:cNvPr id="13" name="Object 12"/>
          <p:cNvSpPr/>
          <p:nvPr/>
        </p:nvSpPr>
        <p:spPr>
          <a:xfrm>
            <a:off x="5157791" y="5285053"/>
            <a:ext cx="6078903" cy="952262"/>
          </a:xfrm>
          <a:prstGeom prst="rect">
            <a:avLst/>
          </a:prstGeom>
          <a:noFill/>
          <a:ln w="25400">
            <a:solidFill>
              <a:srgbClr val="14558c"/>
            </a:solidFill>
            <a:prstDash val="solid"/>
            <a:miter lim="800000"/>
          </a:ln>
        </p:spPr>
      </p:sp>
      <p:sp>
        <p:nvSpPr>
          <p:cNvPr id="14" name="Object 13"/>
          <p:cNvSpPr/>
          <p:nvPr/>
        </p:nvSpPr>
        <p:spPr>
          <a:xfrm>
            <a:off x="140078" y="5529071"/>
            <a:ext cx="3696585" cy="460657"/>
          </a:xfrm>
          <a:prstGeom prst="rect">
            <a:avLst/>
          </a:prstGeom>
          <a:noFill/>
        </p:spPr>
        <p:txBody>
          <a:bodyPr wrap="square" rtlCol="0" anchor="t" bIns="0" lIns="0" rIns="0" tIns="0"/>
          <a:lstStyle/>
          <a:p>
            <a:pPr algn="r">
              <a:lnSpc>
                <a:spcPts val="1814"/>
              </a:lnSpc>
              <a:buNone/>
            </a:pPr>
            <a:r>
              <a:rPr lang="en-US" sz="1440" dirty="0" smtClean="0">
                <a:solidFill>
                  <a:srgbClr val="ffffff"/>
                </a:solidFill>
                <a:latin typeface="Montserrat" pitchFamily="34" charset="0"/>
                <a:ea typeface="Montserrat" pitchFamily="34" charset="-122"/>
                <a:cs typeface="Montserrat" pitchFamily="34" charset="-120"/>
              </a:rPr>
              <a:t>Lenders: Underwriting Cost per Approval</a:t>
            </a:r>
            <a:endParaRPr lang="en-US" dirty="0"/>
          </a:p>
        </p:txBody>
      </p:sp>
      <p:sp>
        <p:nvSpPr>
          <p:cNvPr id="15" name="Object 14"/>
          <p:cNvSpPr/>
          <p:nvPr/>
        </p:nvSpPr>
        <p:spPr>
          <a:xfrm>
            <a:off x="10051124" y="5489790"/>
            <a:ext cx="995114" cy="533267"/>
          </a:xfrm>
          <a:prstGeom prst="rect">
            <a:avLst/>
          </a:prstGeom>
          <a:noFill/>
        </p:spPr>
        <p:txBody>
          <a:bodyPr wrap="square" rtlCol="0" anchor="ctr" bIns="0" lIns="0" rIns="0" tIns="0"/>
          <a:lstStyle/>
          <a:p>
            <a:pPr algn="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600</a:t>
            </a:r>
            <a:endParaRPr lang="en-US" dirty="0"/>
          </a:p>
        </p:txBody>
      </p:sp>
    </p:spTree>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Platform Architecture</a:t>
            </a:r>
            <a:endParaRPr lang="en-US" dirty="0"/>
          </a:p>
        </p:txBody>
      </p:sp>
      <p:pic>
        <p:nvPicPr>
          <p:cNvPr id="3" name="Object 2"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6608" y="2662525"/>
            <a:ext cx="3894751" cy="1209373"/>
          </a:xfrm>
          <a:prstGeom prst="rect">
            <a:avLst/>
          </a:prstGeom>
        </p:spPr>
      </p:pic>
      <p:sp>
        <p:nvSpPr>
          <p:cNvPr id="4" name="Object 3"/>
          <p:cNvSpPr/>
          <p:nvPr/>
        </p:nvSpPr>
        <p:spPr>
          <a:xfrm>
            <a:off x="506288" y="3149368"/>
            <a:ext cx="3526500"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MVP (Months 1-4)</a:t>
            </a:r>
            <a:endParaRPr lang="en-US" dirty="0"/>
          </a:p>
        </p:txBody>
      </p:sp>
      <p:sp>
        <p:nvSpPr>
          <p:cNvPr id="5" name="Object 4"/>
          <p:cNvSpPr/>
          <p:nvPr/>
        </p:nvSpPr>
        <p:spPr>
          <a:xfrm>
            <a:off x="761810" y="3999500"/>
            <a:ext cx="3526500" cy="1279840"/>
          </a:xfrm>
          <a:prstGeom prst="rect">
            <a:avLst/>
          </a:prstGeom>
          <a:noFill/>
        </p:spPr>
        <p:txBody>
          <a:bodyPr wrap="square" rtlCol="0" anchor="t" bIns="0" lIns="0" rIns="0" tIns="0"/>
          <a:lstStyle/>
          <a:p>
            <a:pPr algn="l">
              <a:lnSpc>
                <a:spcPts val="1680"/>
              </a:lnSpc>
              <a:buNone/>
            </a:pPr>
            <a:r>
              <a:rPr lang="en-US" sz="1200" dirty="0" smtClean="0">
                <a:solidFill>
                  <a:srgbClr val="5a5a4c"/>
                </a:solidFill>
                <a:latin typeface="Montserrat" pitchFamily="34" charset="0"/>
                <a:ea typeface="Montserrat" pitchFamily="34" charset="-122"/>
                <a:cs typeface="Montserrat" pitchFamily="34" charset="-120"/>
              </a:rPr>
              <a:t>Core Workflow Validation: One application, multi-lender routing; Dealer portal with consolidated pending applications and real-time status; 2-3 lender integrations; Standardized data schema; Rules-based credit scoring.</a:t>
            </a:r>
            <a:endParaRPr lang="en-US" dirty="0"/>
          </a:p>
        </p:txBody>
      </p:sp>
      <p:pic>
        <p:nvPicPr>
          <p:cNvPr id="6" name="Object 5"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48657" y="2662525"/>
            <a:ext cx="3894751" cy="1209373"/>
          </a:xfrm>
          <a:prstGeom prst="rect">
            <a:avLst/>
          </a:prstGeom>
        </p:spPr>
      </p:pic>
      <p:sp>
        <p:nvSpPr>
          <p:cNvPr id="7" name="Object 6"/>
          <p:cNvSpPr/>
          <p:nvPr/>
        </p:nvSpPr>
        <p:spPr>
          <a:xfrm>
            <a:off x="4488330" y="3149368"/>
            <a:ext cx="3212253"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V2 (Months 5-12)</a:t>
            </a:r>
            <a:endParaRPr lang="en-US" dirty="0"/>
          </a:p>
        </p:txBody>
      </p:sp>
      <p:sp>
        <p:nvSpPr>
          <p:cNvPr id="8" name="Object 7"/>
          <p:cNvSpPr/>
          <p:nvPr/>
        </p:nvSpPr>
        <p:spPr>
          <a:xfrm>
            <a:off x="4443889" y="3999500"/>
            <a:ext cx="3526500" cy="853227"/>
          </a:xfrm>
          <a:prstGeom prst="rect">
            <a:avLst/>
          </a:prstGeom>
          <a:noFill/>
        </p:spPr>
        <p:txBody>
          <a:bodyPr wrap="square" rtlCol="0" anchor="t" bIns="0" lIns="0" rIns="0" tIns="0"/>
          <a:lstStyle/>
          <a:p>
            <a:pPr algn="l">
              <a:lnSpc>
                <a:spcPts val="1680"/>
              </a:lnSpc>
              <a:buNone/>
            </a:pPr>
            <a:r>
              <a:rPr lang="en-US" sz="1200" dirty="0" smtClean="0">
                <a:solidFill>
                  <a:srgbClr val="5a5a4c"/>
                </a:solidFill>
                <a:latin typeface="Montserrat" pitchFamily="34" charset="0"/>
                <a:ea typeface="Montserrat" pitchFamily="34" charset="-122"/>
                <a:cs typeface="Montserrat" pitchFamily="34" charset="-120"/>
              </a:rPr>
              <a:t>AI-powered loan routing; Predictive credit scoring; OEM analytics dashboard; DMS integrations expanded; Mobile app for farmers.</a:t>
            </a:r>
            <a:endParaRPr lang="en-US" dirty="0"/>
          </a:p>
        </p:txBody>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30689" y="2662525"/>
            <a:ext cx="3894751" cy="1209373"/>
          </a:xfrm>
          <a:prstGeom prst="rect">
            <a:avLst/>
          </a:prstGeom>
        </p:spPr>
      </p:pic>
      <p:sp>
        <p:nvSpPr>
          <p:cNvPr id="10" name="Object 9"/>
          <p:cNvSpPr/>
          <p:nvPr/>
        </p:nvSpPr>
        <p:spPr>
          <a:xfrm>
            <a:off x="8170409" y="3149368"/>
            <a:ext cx="3212253" cy="230328"/>
          </a:xfrm>
          <a:prstGeom prst="rect">
            <a:avLst/>
          </a:prstGeom>
          <a:noFill/>
        </p:spPr>
        <p:txBody>
          <a:bodyPr wrap="square" rtlCol="0" anchor="t" bIns="0" lIns="0" rIns="0" tIns="0"/>
          <a:lstStyle/>
          <a:p>
            <a:pPr algn="ctr">
              <a:lnSpc>
                <a:spcPts val="1814"/>
              </a:lnSpc>
              <a:buNone/>
            </a:pPr>
            <a:r>
              <a:rPr lang="en-US" sz="1440" dirty="0" smtClean="0">
                <a:solidFill>
                  <a:srgbClr val="ffffff"/>
                </a:solidFill>
                <a:latin typeface="Montserrat" pitchFamily="34" charset="0"/>
                <a:ea typeface="Montserrat" pitchFamily="34" charset="-122"/>
                <a:cs typeface="Montserrat" pitchFamily="34" charset="-120"/>
              </a:rPr>
              <a:t>V3 (Months 13-24)</a:t>
            </a:r>
            <a:endParaRPr lang="en-US" dirty="0"/>
          </a:p>
        </p:txBody>
      </p:sp>
      <p:sp>
        <p:nvSpPr>
          <p:cNvPr id="11" name="Object 10"/>
          <p:cNvSpPr/>
          <p:nvPr/>
        </p:nvSpPr>
        <p:spPr>
          <a:xfrm>
            <a:off x="8125968" y="3999500"/>
            <a:ext cx="3526500" cy="1066533"/>
          </a:xfrm>
          <a:prstGeom prst="rect">
            <a:avLst/>
          </a:prstGeom>
          <a:noFill/>
        </p:spPr>
        <p:txBody>
          <a:bodyPr wrap="square" rtlCol="0" anchor="t" bIns="0" lIns="0" rIns="0" tIns="0"/>
          <a:lstStyle/>
          <a:p>
            <a:pPr algn="l">
              <a:lnSpc>
                <a:spcPts val="1680"/>
              </a:lnSpc>
              <a:buNone/>
            </a:pPr>
            <a:r>
              <a:rPr lang="en-US" sz="1200" dirty="0" smtClean="0">
                <a:solidFill>
                  <a:srgbClr val="5a5a4c"/>
                </a:solidFill>
                <a:latin typeface="Montserrat" pitchFamily="34" charset="0"/>
                <a:ea typeface="Montserrat" pitchFamily="34" charset="-122"/>
                <a:cs typeface="Montserrat" pitchFamily="34" charset="-120"/>
              </a:rPr>
              <a:t>Portfolio risk dashboards; Dealer performance benchmarking; White-label dealer portal; Adjacent asset classes (equipment leasing, farm land financing, crop financing).</a:t>
            </a:r>
            <a:endParaRPr lang="en-US" dirty="0"/>
          </a:p>
        </p:txBody>
      </p:sp>
    </p:spTree>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Competitive Differentiation</a:t>
            </a:r>
            <a:endParaRPr lang="en-US" dirty="0"/>
          </a:p>
        </p:txBody>
      </p:sp>
      <p:sp>
        <p:nvSpPr>
          <p:cNvPr id="3" name="Object 2"/>
          <p:cNvSpPr/>
          <p:nvPr/>
        </p:nvSpPr>
        <p:spPr>
          <a:xfrm>
            <a:off x="476131" y="1580755"/>
            <a:ext cx="5523119" cy="2304474"/>
          </a:xfrm>
          <a:prstGeom prst="rect">
            <a:avLst/>
          </a:prstGeom>
          <a:noFill/>
          <a:ln w="25400">
            <a:solidFill>
              <a:srgbClr val="62a8bb"/>
            </a:solidFill>
            <a:prstDash val="solid"/>
            <a:miter lim="800000"/>
          </a:ln>
        </p:spPr>
      </p:sp>
      <p:sp>
        <p:nvSpPr>
          <p:cNvPr id="4" name="Object 3"/>
          <p:cNvSpPr/>
          <p:nvPr/>
        </p:nvSpPr>
        <p:spPr>
          <a:xfrm>
            <a:off x="761810" y="1808464"/>
            <a:ext cx="5551687" cy="261039"/>
          </a:xfrm>
          <a:prstGeom prst="rect">
            <a:avLst/>
          </a:prstGeom>
          <a:noFill/>
        </p:spPr>
        <p:txBody>
          <a:bodyPr wrap="square" rtlCol="0" anchor="t" bIns="0" lIns="0" rIns="0" tIns="0"/>
          <a:lstStyle/>
          <a:p>
            <a:pPr algn="l">
              <a:lnSpc>
                <a:spcPts val="2057"/>
              </a:lnSpc>
              <a:buNone/>
            </a:pPr>
            <a:r>
              <a:rPr lang="en-US" sz="1632" dirty="0" smtClean="0">
                <a:solidFill>
                  <a:srgbClr val="2a2921"/>
                </a:solidFill>
                <a:latin typeface="Montserrat" pitchFamily="34" charset="0"/>
                <a:ea typeface="Montserrat" pitchFamily="34" charset="-122"/>
                <a:cs typeface="Montserrat" pitchFamily="34" charset="-120"/>
              </a:rPr>
              <a:t>Against Captive Finance</a:t>
            </a:r>
            <a:endParaRPr lang="en-US" dirty="0"/>
          </a:p>
        </p:txBody>
      </p:sp>
      <p:sp>
        <p:nvSpPr>
          <p:cNvPr id="5" name="Object 4"/>
          <p:cNvSpPr/>
          <p:nvPr/>
        </p:nvSpPr>
        <p:spPr>
          <a:xfrm>
            <a:off x="761810" y="2186631"/>
            <a:ext cx="5551687" cy="1279840"/>
          </a:xfrm>
          <a:prstGeom prst="rect">
            <a:avLst/>
          </a:prstGeom>
          <a:noFill/>
        </p:spPr>
        <p:txBody>
          <a:bodyPr wrap="square" rtlCol="0" anchor="t" bIns="0" lIns="0" rIns="0" tIns="0"/>
          <a:lstStyle/>
          <a:p>
            <a:pPr algn="l">
              <a:lnSpc>
                <a:spcPts val="1680"/>
              </a:lnSpc>
              <a:spcBef>
                <a:spcPts val="905"/>
              </a:spcBef>
              <a:buNone/>
            </a:pPr>
            <a:r>
              <a:rPr lang="en-US" sz="1200" dirty="0" smtClean="0">
                <a:solidFill>
                  <a:srgbClr val="5a5a4c"/>
                </a:solidFill>
                <a:latin typeface="Montserrat" pitchFamily="34" charset="0"/>
                <a:ea typeface="Montserrat" pitchFamily="34" charset="-122"/>
                <a:cs typeface="Montserrat" pitchFamily="34" charset="-120"/>
              </a:rPr>
              <a:t>Their Strength: Scale, integration depth, brand trust. Their Weakness: Single-lender only; Deere or CNH; farmers/dealers prefer multi-lender neutrality; captives cannot credibly claim neutrality. Our Position: We're the only neutral player. Farmers + dealers get Deere, CNH, Kubota in one app. Deere Financial excels at loyalty; we excel at efficiency.</a:t>
            </a:r>
            <a:endParaRPr lang="en-US" dirty="0"/>
          </a:p>
        </p:txBody>
      </p:sp>
      <p:sp>
        <p:nvSpPr>
          <p:cNvPr id="6" name="Object 5"/>
          <p:cNvSpPr/>
          <p:nvPr/>
        </p:nvSpPr>
        <p:spPr>
          <a:xfrm>
            <a:off x="6189702" y="1580755"/>
            <a:ext cx="5523119" cy="2304474"/>
          </a:xfrm>
          <a:prstGeom prst="rect">
            <a:avLst/>
          </a:prstGeom>
          <a:noFill/>
          <a:ln w="25400">
            <a:solidFill>
              <a:srgbClr val="488cab"/>
            </a:solidFill>
            <a:prstDash val="solid"/>
            <a:miter lim="800000"/>
          </a:ln>
        </p:spPr>
      </p:sp>
      <p:sp>
        <p:nvSpPr>
          <p:cNvPr id="7" name="Object 6"/>
          <p:cNvSpPr/>
          <p:nvPr/>
        </p:nvSpPr>
        <p:spPr>
          <a:xfrm>
            <a:off x="6475381" y="1808464"/>
            <a:ext cx="5551687" cy="261039"/>
          </a:xfrm>
          <a:prstGeom prst="rect">
            <a:avLst/>
          </a:prstGeom>
          <a:noFill/>
        </p:spPr>
        <p:txBody>
          <a:bodyPr wrap="square" rtlCol="0" anchor="t" bIns="0" lIns="0" rIns="0" tIns="0"/>
          <a:lstStyle/>
          <a:p>
            <a:pPr algn="l">
              <a:lnSpc>
                <a:spcPts val="2057"/>
              </a:lnSpc>
              <a:buNone/>
            </a:pPr>
            <a:r>
              <a:rPr lang="en-US" sz="1632" dirty="0" smtClean="0">
                <a:solidFill>
                  <a:srgbClr val="2a2921"/>
                </a:solidFill>
                <a:latin typeface="Montserrat" pitchFamily="34" charset="0"/>
                <a:ea typeface="Montserrat" pitchFamily="34" charset="-122"/>
                <a:cs typeface="Montserrat" pitchFamily="34" charset="-120"/>
              </a:rPr>
              <a:t>Against Regional Banks (Farm Credit)</a:t>
            </a:r>
            <a:endParaRPr lang="en-US" dirty="0"/>
          </a:p>
        </p:txBody>
      </p:sp>
      <p:sp>
        <p:nvSpPr>
          <p:cNvPr id="8" name="Object 7"/>
          <p:cNvSpPr/>
          <p:nvPr/>
        </p:nvSpPr>
        <p:spPr>
          <a:xfrm>
            <a:off x="6475381" y="2186631"/>
            <a:ext cx="5551687" cy="1279840"/>
          </a:xfrm>
          <a:prstGeom prst="rect">
            <a:avLst/>
          </a:prstGeom>
          <a:noFill/>
        </p:spPr>
        <p:txBody>
          <a:bodyPr wrap="square" rtlCol="0" anchor="t" bIns="0" lIns="0" rIns="0" tIns="0"/>
          <a:lstStyle/>
          <a:p>
            <a:pPr algn="l">
              <a:lnSpc>
                <a:spcPts val="1680"/>
              </a:lnSpc>
              <a:spcBef>
                <a:spcPts val="905"/>
              </a:spcBef>
              <a:buNone/>
            </a:pPr>
            <a:r>
              <a:rPr lang="en-US" sz="1200" dirty="0" smtClean="0">
                <a:solidFill>
                  <a:srgbClr val="5a5a4c"/>
                </a:solidFill>
                <a:latin typeface="Montserrat" pitchFamily="34" charset="0"/>
                <a:ea typeface="Montserrat" pitchFamily="34" charset="-122"/>
                <a:cs typeface="Montserrat" pitchFamily="34" charset="-120"/>
              </a:rPr>
              <a:t>Their Strength: Capital, relationships, board connections, local credit policy flexibility. Their Weakness: Rural distribution costly; dealer embedding weak; cannot build tech platform. Our Position: We solve your distribution problem without branch economics. Win-win: you stay competitive on rates; we embed at point-of-sale.</a:t>
            </a:r>
            <a:endParaRPr lang="en-US" dirty="0"/>
          </a:p>
        </p:txBody>
      </p:sp>
      <p:sp>
        <p:nvSpPr>
          <p:cNvPr id="9" name="Object 8"/>
          <p:cNvSpPr/>
          <p:nvPr/>
        </p:nvSpPr>
        <p:spPr>
          <a:xfrm>
            <a:off x="476131" y="4075681"/>
            <a:ext cx="5523119" cy="2304474"/>
          </a:xfrm>
          <a:prstGeom prst="rect">
            <a:avLst/>
          </a:prstGeom>
          <a:noFill/>
          <a:ln w="25400">
            <a:solidFill>
              <a:srgbClr val="2e719c"/>
            </a:solidFill>
            <a:prstDash val="solid"/>
            <a:miter lim="800000"/>
          </a:ln>
        </p:spPr>
      </p:sp>
      <p:sp>
        <p:nvSpPr>
          <p:cNvPr id="10" name="Object 9"/>
          <p:cNvSpPr/>
          <p:nvPr/>
        </p:nvSpPr>
        <p:spPr>
          <a:xfrm>
            <a:off x="761810" y="4303390"/>
            <a:ext cx="5551687" cy="261039"/>
          </a:xfrm>
          <a:prstGeom prst="rect">
            <a:avLst/>
          </a:prstGeom>
          <a:noFill/>
        </p:spPr>
        <p:txBody>
          <a:bodyPr wrap="square" rtlCol="0" anchor="t" bIns="0" lIns="0" rIns="0" tIns="0"/>
          <a:lstStyle/>
          <a:p>
            <a:pPr algn="l">
              <a:lnSpc>
                <a:spcPts val="2057"/>
              </a:lnSpc>
              <a:buNone/>
            </a:pPr>
            <a:r>
              <a:rPr lang="en-US" sz="1632" dirty="0" smtClean="0">
                <a:solidFill>
                  <a:srgbClr val="2a2921"/>
                </a:solidFill>
                <a:latin typeface="Montserrat" pitchFamily="34" charset="0"/>
                <a:ea typeface="Montserrat" pitchFamily="34" charset="-122"/>
                <a:cs typeface="Montserrat" pitchFamily="34" charset="-120"/>
              </a:rPr>
              <a:t>Against Ag-Fintech &amp; Online Marketplaces</a:t>
            </a:r>
            <a:endParaRPr lang="en-US" dirty="0"/>
          </a:p>
        </p:txBody>
      </p:sp>
      <p:sp>
        <p:nvSpPr>
          <p:cNvPr id="11" name="Object 10"/>
          <p:cNvSpPr/>
          <p:nvPr/>
        </p:nvSpPr>
        <p:spPr>
          <a:xfrm>
            <a:off x="761810" y="4681557"/>
            <a:ext cx="5551687" cy="1279840"/>
          </a:xfrm>
          <a:prstGeom prst="rect">
            <a:avLst/>
          </a:prstGeom>
          <a:noFill/>
        </p:spPr>
        <p:txBody>
          <a:bodyPr wrap="square" rtlCol="0" anchor="t" bIns="0" lIns="0" rIns="0" tIns="0"/>
          <a:lstStyle/>
          <a:p>
            <a:pPr algn="l">
              <a:lnSpc>
                <a:spcPts val="1680"/>
              </a:lnSpc>
              <a:spcBef>
                <a:spcPts val="905"/>
              </a:spcBef>
              <a:buNone/>
            </a:pPr>
            <a:r>
              <a:rPr lang="en-US" sz="1200" dirty="0" smtClean="0">
                <a:solidFill>
                  <a:srgbClr val="5a5a4c"/>
                </a:solidFill>
                <a:latin typeface="Montserrat" pitchFamily="34" charset="0"/>
                <a:ea typeface="Montserrat" pitchFamily="34" charset="-122"/>
                <a:cs typeface="Montserrat" pitchFamily="34" charset="-120"/>
              </a:rPr>
              <a:t>Their Strength: Speed, mobile-first UX, digital-native mindset. Their Weakness: Miss dealer workflow (70% of volume originates there); limited rural data; small lender networks; cannot integrate with DMS. Our Position: Fintech dealer-embedded. Mobile-first is table stakes. But you miss the dealer workflow. We embed at dealer point-of-sale where farmers actually shop for equipment.</a:t>
            </a:r>
            <a:endParaRPr lang="en-US" dirty="0"/>
          </a:p>
        </p:txBody>
      </p:sp>
      <p:sp>
        <p:nvSpPr>
          <p:cNvPr id="12" name="Object 11"/>
          <p:cNvSpPr/>
          <p:nvPr/>
        </p:nvSpPr>
        <p:spPr>
          <a:xfrm>
            <a:off x="6189702" y="4075681"/>
            <a:ext cx="5523119" cy="2304474"/>
          </a:xfrm>
          <a:prstGeom prst="rect">
            <a:avLst/>
          </a:prstGeom>
          <a:noFill/>
          <a:ln w="25400">
            <a:solidFill>
              <a:srgbClr val="14558c"/>
            </a:solidFill>
            <a:prstDash val="solid"/>
            <a:miter lim="800000"/>
          </a:ln>
        </p:spPr>
      </p:sp>
      <p:sp>
        <p:nvSpPr>
          <p:cNvPr id="13" name="Object 12"/>
          <p:cNvSpPr/>
          <p:nvPr/>
        </p:nvSpPr>
        <p:spPr>
          <a:xfrm>
            <a:off x="6475381" y="4303390"/>
            <a:ext cx="5551687" cy="261039"/>
          </a:xfrm>
          <a:prstGeom prst="rect">
            <a:avLst/>
          </a:prstGeom>
          <a:noFill/>
        </p:spPr>
        <p:txBody>
          <a:bodyPr wrap="square" rtlCol="0" anchor="t" bIns="0" lIns="0" rIns="0" tIns="0"/>
          <a:lstStyle/>
          <a:p>
            <a:pPr algn="l">
              <a:lnSpc>
                <a:spcPts val="2057"/>
              </a:lnSpc>
              <a:buNone/>
            </a:pPr>
            <a:r>
              <a:rPr lang="en-US" sz="1632" dirty="0" smtClean="0">
                <a:solidFill>
                  <a:srgbClr val="2a2921"/>
                </a:solidFill>
                <a:latin typeface="Montserrat" pitchFamily="34" charset="0"/>
                <a:ea typeface="Montserrat" pitchFamily="34" charset="-122"/>
                <a:cs typeface="Montserrat" pitchFamily="34" charset="-120"/>
              </a:rPr>
              <a:t>Against Dealer Portal Point Solutions</a:t>
            </a:r>
            <a:endParaRPr lang="en-US" dirty="0"/>
          </a:p>
        </p:txBody>
      </p:sp>
      <p:sp>
        <p:nvSpPr>
          <p:cNvPr id="14" name="Object 13"/>
          <p:cNvSpPr/>
          <p:nvPr/>
        </p:nvSpPr>
        <p:spPr>
          <a:xfrm>
            <a:off x="6475381" y="4681557"/>
            <a:ext cx="5551687" cy="1279840"/>
          </a:xfrm>
          <a:prstGeom prst="rect">
            <a:avLst/>
          </a:prstGeom>
          <a:noFill/>
        </p:spPr>
        <p:txBody>
          <a:bodyPr wrap="square" rtlCol="0" anchor="t" bIns="0" lIns="0" rIns="0" tIns="0"/>
          <a:lstStyle/>
          <a:p>
            <a:pPr algn="l">
              <a:lnSpc>
                <a:spcPts val="1680"/>
              </a:lnSpc>
              <a:spcBef>
                <a:spcPts val="905"/>
              </a:spcBef>
              <a:buNone/>
            </a:pPr>
            <a:r>
              <a:rPr lang="en-US" sz="1200" dirty="0" smtClean="0">
                <a:solidFill>
                  <a:srgbClr val="5a5a4c"/>
                </a:solidFill>
                <a:latin typeface="Montserrat" pitchFamily="34" charset="0"/>
                <a:ea typeface="Montserrat" pitchFamily="34" charset="-122"/>
                <a:cs typeface="Montserrat" pitchFamily="34" charset="-120"/>
              </a:rPr>
              <a:t>Their Strength: Deep integrations with individual lender systems. Their Weakness: Single-lender per portal; dealer still juggles 5-15 portals; no consolidation. Our Position: Single-lender portals don't solve dealer consolidation. You need one unified workflow across all lenders, instant multi-lender comparison, and analytics. That's what we deliver.</a:t>
            </a:r>
            <a:endParaRPr lang="en-US" dirty="0"/>
          </a:p>
        </p:txBody>
      </p:sp>
    </p:spTree>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Defensible Moat</a:t>
            </a:r>
            <a:endParaRPr lang="en-US" dirty="0"/>
          </a:p>
        </p:txBody>
      </p:sp>
      <p:pic>
        <p:nvPicPr>
          <p:cNvPr id="3" name="Object 2"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4218" y="2328784"/>
            <a:ext cx="1104624" cy="923694"/>
          </a:xfrm>
          <a:prstGeom prst="rect">
            <a:avLst/>
          </a:prstGeom>
        </p:spPr>
      </p:pic>
      <p:sp>
        <p:nvSpPr>
          <p:cNvPr id="4" name="Object 3"/>
          <p:cNvSpPr/>
          <p:nvPr/>
        </p:nvSpPr>
        <p:spPr>
          <a:xfrm>
            <a:off x="502794" y="3592170"/>
            <a:ext cx="2398748"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Multi-Lender Neutrality</a:t>
            </a:r>
            <a:endParaRPr lang="en-US" dirty="0"/>
          </a:p>
        </p:txBody>
      </p:sp>
      <p:sp>
        <p:nvSpPr>
          <p:cNvPr id="5" name="Object 4"/>
          <p:cNvSpPr/>
          <p:nvPr/>
        </p:nvSpPr>
        <p:spPr>
          <a:xfrm>
            <a:off x="502794" y="3908321"/>
            <a:ext cx="2398748" cy="853227"/>
          </a:xfrm>
          <a:prstGeom prst="rect">
            <a:avLst/>
          </a:prstGeom>
          <a:noFill/>
        </p:spPr>
        <p:txBody>
          <a:bodyPr wrap="square" rtlCol="0" anchor="t" bIns="0" lIns="0" rIns="0" tIns="0"/>
          <a:lstStyle/>
          <a:p>
            <a:pPr algn="ctr">
              <a:lnSpc>
                <a:spcPts val="1680"/>
              </a:lnSpc>
              <a:spcBef>
                <a:spcPts val="663"/>
              </a:spcBef>
              <a:buNone/>
            </a:pPr>
            <a:r>
              <a:rPr lang="en-US" sz="1200" dirty="0" smtClean="0">
                <a:solidFill>
                  <a:srgbClr val="5a5a4c"/>
                </a:solidFill>
                <a:latin typeface="Montserrat" pitchFamily="34" charset="0"/>
                <a:ea typeface="Montserrat" pitchFamily="34" charset="-122"/>
                <a:cs typeface="Montserrat" pitchFamily="34" charset="-120"/>
              </a:rPr>
              <a:t>No competitor can credibly match our neutral, dealer-embedded, multi-lender platform approach</a:t>
            </a:r>
            <a:endParaRPr lang="en-US" dirty="0"/>
          </a:p>
        </p:txBody>
      </p:sp>
      <p:pic>
        <p:nvPicPr>
          <p:cNvPr id="6" name="Object 5"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7479" y="2317624"/>
            <a:ext cx="828468" cy="942739"/>
          </a:xfrm>
          <a:prstGeom prst="rect">
            <a:avLst/>
          </a:prstGeom>
        </p:spPr>
      </p:pic>
      <p:sp>
        <p:nvSpPr>
          <p:cNvPr id="7" name="Object 6"/>
          <p:cNvSpPr/>
          <p:nvPr/>
        </p:nvSpPr>
        <p:spPr>
          <a:xfrm>
            <a:off x="3383863" y="3592170"/>
            <a:ext cx="2493022"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DMS Integration Lock-In</a:t>
            </a:r>
            <a:endParaRPr lang="en-US" dirty="0"/>
          </a:p>
        </p:txBody>
      </p:sp>
      <p:sp>
        <p:nvSpPr>
          <p:cNvPr id="8" name="Object 7"/>
          <p:cNvSpPr/>
          <p:nvPr/>
        </p:nvSpPr>
        <p:spPr>
          <a:xfrm>
            <a:off x="3383863" y="3908321"/>
            <a:ext cx="2493022" cy="853227"/>
          </a:xfrm>
          <a:prstGeom prst="rect">
            <a:avLst/>
          </a:prstGeom>
          <a:noFill/>
        </p:spPr>
        <p:txBody>
          <a:bodyPr wrap="square" rtlCol="0" anchor="t" bIns="0" lIns="0" rIns="0" tIns="0"/>
          <a:lstStyle/>
          <a:p>
            <a:pPr algn="ctr">
              <a:lnSpc>
                <a:spcPts val="1680"/>
              </a:lnSpc>
              <a:spcBef>
                <a:spcPts val="663"/>
              </a:spcBef>
              <a:buNone/>
            </a:pPr>
            <a:r>
              <a:rPr lang="en-US" sz="1200" dirty="0" smtClean="0">
                <a:solidFill>
                  <a:srgbClr val="5a5a4c"/>
                </a:solidFill>
                <a:latin typeface="Montserrat" pitchFamily="34" charset="0"/>
                <a:ea typeface="Montserrat" pitchFamily="34" charset="-122"/>
                <a:cs typeface="Montserrat" pitchFamily="34" charset="-120"/>
              </a:rPr>
              <a:t>$15-30K switching cost per dealer; 3-6 month integration commitment makes it prohibitive to switch</a:t>
            </a:r>
            <a:endParaRPr lang="en-US" dirty="0"/>
          </a:p>
        </p:txBody>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01480" y="2429216"/>
            <a:ext cx="742764" cy="742764"/>
          </a:xfrm>
          <a:prstGeom prst="rect">
            <a:avLst/>
          </a:prstGeom>
        </p:spPr>
      </p:pic>
      <p:sp>
        <p:nvSpPr>
          <p:cNvPr id="10" name="Object 9"/>
          <p:cNvSpPr/>
          <p:nvPr/>
        </p:nvSpPr>
        <p:spPr>
          <a:xfrm>
            <a:off x="6338255" y="3592170"/>
            <a:ext cx="2440647"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Rural Credit Data Asset</a:t>
            </a:r>
            <a:endParaRPr lang="en-US" dirty="0"/>
          </a:p>
        </p:txBody>
      </p:sp>
      <p:sp>
        <p:nvSpPr>
          <p:cNvPr id="11" name="Object 10"/>
          <p:cNvSpPr/>
          <p:nvPr/>
        </p:nvSpPr>
        <p:spPr>
          <a:xfrm>
            <a:off x="6338255" y="3908321"/>
            <a:ext cx="2440647" cy="639920"/>
          </a:xfrm>
          <a:prstGeom prst="rect">
            <a:avLst/>
          </a:prstGeom>
          <a:noFill/>
        </p:spPr>
        <p:txBody>
          <a:bodyPr wrap="square" rtlCol="0" anchor="t" bIns="0" lIns="0" rIns="0" tIns="0"/>
          <a:lstStyle/>
          <a:p>
            <a:pPr algn="ctr">
              <a:lnSpc>
                <a:spcPts val="1680"/>
              </a:lnSpc>
              <a:spcBef>
                <a:spcPts val="663"/>
              </a:spcBef>
              <a:buNone/>
            </a:pPr>
            <a:r>
              <a:rPr lang="en-US" sz="1200" dirty="0" smtClean="0">
                <a:solidFill>
                  <a:srgbClr val="5a5a4c"/>
                </a:solidFill>
                <a:latin typeface="Montserrat" pitchFamily="34" charset="0"/>
                <a:ea typeface="Montserrat" pitchFamily="34" charset="-122"/>
                <a:cs typeface="Montserrat" pitchFamily="34" charset="-120"/>
              </a:rPr>
              <a:t>5 years of underwriting data builds predictive models competitors cannot replicate</a:t>
            </a:r>
            <a:endParaRPr lang="en-US" dirty="0"/>
          </a:p>
        </p:txBody>
      </p:sp>
      <p:pic>
        <p:nvPicPr>
          <p:cNvPr id="12" name="Object 11"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6933" y="2317638"/>
            <a:ext cx="942739" cy="933217"/>
          </a:xfrm>
          <a:prstGeom prst="rect">
            <a:avLst/>
          </a:prstGeom>
        </p:spPr>
      </p:pic>
      <p:sp>
        <p:nvSpPr>
          <p:cNvPr id="13" name="Object 12"/>
          <p:cNvSpPr/>
          <p:nvPr/>
        </p:nvSpPr>
        <p:spPr>
          <a:xfrm>
            <a:off x="9177424" y="3592170"/>
            <a:ext cx="2618720" cy="460657"/>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Embedded Dealer Distribution</a:t>
            </a:r>
            <a:endParaRPr lang="en-US" dirty="0"/>
          </a:p>
        </p:txBody>
      </p:sp>
      <p:sp>
        <p:nvSpPr>
          <p:cNvPr id="14" name="Object 13"/>
          <p:cNvSpPr/>
          <p:nvPr/>
        </p:nvSpPr>
        <p:spPr>
          <a:xfrm>
            <a:off x="9177424" y="4138649"/>
            <a:ext cx="2618720" cy="639920"/>
          </a:xfrm>
          <a:prstGeom prst="rect">
            <a:avLst/>
          </a:prstGeom>
          <a:noFill/>
        </p:spPr>
        <p:txBody>
          <a:bodyPr wrap="square" rtlCol="0" anchor="t" bIns="0" lIns="0" rIns="0" tIns="0"/>
          <a:lstStyle/>
          <a:p>
            <a:pPr algn="ctr">
              <a:lnSpc>
                <a:spcPts val="1680"/>
              </a:lnSpc>
              <a:spcBef>
                <a:spcPts val="663"/>
              </a:spcBef>
              <a:buNone/>
            </a:pPr>
            <a:r>
              <a:rPr lang="en-US" sz="1200" dirty="0" smtClean="0">
                <a:solidFill>
                  <a:srgbClr val="5a5a4c"/>
                </a:solidFill>
                <a:latin typeface="Montserrat" pitchFamily="34" charset="0"/>
                <a:ea typeface="Montserrat" pitchFamily="34" charset="-122"/>
                <a:cs typeface="Montserrat" pitchFamily="34" charset="-120"/>
              </a:rPr>
              <a:t>70% of equipment finance volume originates at the dealer - we own that workflow</a:t>
            </a:r>
            <a:endParaRPr lang="en-US" dirty="0"/>
          </a:p>
        </p:txBody>
      </p:sp>
      <p:sp>
        <p:nvSpPr>
          <p:cNvPr id="15" name="Object 14"/>
          <p:cNvSpPr/>
          <p:nvPr/>
        </p:nvSpPr>
        <p:spPr>
          <a:xfrm>
            <a:off x="0" y="5713571"/>
            <a:ext cx="12188952" cy="1142714"/>
          </a:xfrm>
          <a:prstGeom prst="rect">
            <a:avLst/>
          </a:prstGeom>
          <a:solidFill>
            <a:srgbClr val="14558c"/>
          </a:solidFill>
        </p:spPr>
      </p:sp>
      <p:sp>
        <p:nvSpPr>
          <p:cNvPr id="16" name="Object 15"/>
          <p:cNvSpPr/>
          <p:nvPr/>
        </p:nvSpPr>
        <p:spPr>
          <a:xfrm>
            <a:off x="-161885" y="6040197"/>
            <a:ext cx="12512721" cy="489463"/>
          </a:xfrm>
          <a:prstGeom prst="rect">
            <a:avLst/>
          </a:prstGeom>
          <a:noFill/>
        </p:spPr>
        <p:txBody>
          <a:bodyPr wrap="square" rtlCol="0" anchor="ctr" bIns="0" lIns="0" rIns="0" tIns="0"/>
          <a:lstStyle/>
          <a:p>
            <a:pPr algn="ctr">
              <a:lnSpc>
                <a:spcPts val="1927"/>
              </a:lnSpc>
              <a:buNone/>
            </a:pPr>
            <a:r>
              <a:rPr lang="en-US" sz="1530" dirty="0" smtClean="0">
                <a:solidFill>
                  <a:srgbClr val="ffffff"/>
                </a:solidFill>
                <a:latin typeface="Montserrat" pitchFamily="34" charset="0"/>
                <a:ea typeface="Montserrat" pitchFamily="34" charset="-122"/>
                <a:cs typeface="Montserrat" pitchFamily="34" charset="-120"/>
              </a:rPr>
              <a:t>These four key factors - multi-lender neutrality, DMS integration lock-in, rural credit data moat, and embedded dealer distribution - create a sustainable competitive advantage that will be extremely difficult for competitors to match.</a:t>
            </a:r>
            <a:endParaRPr lang="en-US" dirty="0"/>
          </a:p>
        </p:txBody>
      </p:sp>
    </p:spTree>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Financial Highlights</a:t>
            </a:r>
            <a:endParaRPr lang="en-US" dirty="0"/>
          </a:p>
        </p:txBody>
      </p:sp>
      <p:sp>
        <p:nvSpPr>
          <p:cNvPr id="3" name="Object 2"/>
          <p:cNvSpPr/>
          <p:nvPr/>
        </p:nvSpPr>
        <p:spPr>
          <a:xfrm>
            <a:off x="0" y="1028443"/>
            <a:ext cx="12188952" cy="266633"/>
          </a:xfrm>
          <a:prstGeom prst="rect">
            <a:avLst/>
          </a:prstGeom>
          <a:noFill/>
        </p:spPr>
        <p:txBody>
          <a:bodyPr wrap="square" rtlCol="0" anchor="t" bIns="0" lIns="0" rIns="0" tIns="0"/>
          <a:lstStyle/>
          <a:p>
            <a:pPr algn="ctr">
              <a:lnSpc>
                <a:spcPts val="2100"/>
              </a:lnSpc>
              <a:spcBef>
                <a:spcPts val="919"/>
              </a:spcBef>
              <a:buNone/>
            </a:pPr>
            <a:r>
              <a:rPr lang="en-US" sz="1500" dirty="0" smtClean="0">
                <a:solidFill>
                  <a:srgbClr val="5a5a4c"/>
                </a:solidFill>
                <a:latin typeface="Montserrat" pitchFamily="34" charset="0"/>
                <a:ea typeface="Montserrat" pitchFamily="34" charset="-122"/>
                <a:cs typeface="Montserrat" pitchFamily="34" charset="-120"/>
              </a:rPr>
              <a:t>Revenue, EBITDA Margin, and Exit Valuation Scenarios</a:t>
            </a:r>
            <a:endParaRPr lang="en-US" dirty="0"/>
          </a:p>
        </p:txBody>
      </p:sp>
      <p:pic>
        <p:nvPicPr>
          <p:cNvPr id="4" name="Object 3"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6137" y="2729659"/>
            <a:ext cx="2104499" cy="2104499"/>
          </a:xfrm>
          <a:prstGeom prst="rect">
            <a:avLst/>
          </a:prstGeom>
        </p:spPr>
      </p:pic>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5529" y="2729659"/>
            <a:ext cx="352337" cy="123794"/>
          </a:xfrm>
          <a:prstGeom prst="rect">
            <a:avLst/>
          </a:prstGeom>
        </p:spPr>
      </p:pic>
      <p:sp>
        <p:nvSpPr>
          <p:cNvPr id="6" name="Object 5"/>
          <p:cNvSpPr/>
          <p:nvPr/>
        </p:nvSpPr>
        <p:spPr>
          <a:xfrm>
            <a:off x="664679" y="3505752"/>
            <a:ext cx="1717880" cy="533267"/>
          </a:xfrm>
          <a:prstGeom prst="rect">
            <a:avLst/>
          </a:prstGeom>
          <a:noFill/>
        </p:spPr>
        <p:txBody>
          <a:bodyPr wrap="square" rtlCol="0" anchor="ctr"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22</a:t>
            </a:r>
            <a:endParaRPr lang="en-US" dirty="0"/>
          </a:p>
        </p:txBody>
      </p:sp>
      <p:sp>
        <p:nvSpPr>
          <p:cNvPr id="7" name="Object 6"/>
          <p:cNvSpPr/>
          <p:nvPr/>
        </p:nvSpPr>
        <p:spPr>
          <a:xfrm>
            <a:off x="371382" y="4963903"/>
            <a:ext cx="2304474"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Revenue (M)</a:t>
            </a:r>
            <a:endParaRPr lang="en-US" dirty="0"/>
          </a:p>
        </p:txBody>
      </p:sp>
      <p:pic>
        <p:nvPicPr>
          <p:cNvPr id="8" name="Object 7"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23375" y="2729659"/>
            <a:ext cx="2104499" cy="2104499"/>
          </a:xfrm>
          <a:prstGeom prst="rect">
            <a:avLst/>
          </a:prstGeom>
        </p:spPr>
      </p:pic>
      <p:pic>
        <p:nvPicPr>
          <p:cNvPr id="9" name="Object 8"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32767" y="2729659"/>
            <a:ext cx="352337" cy="123794"/>
          </a:xfrm>
          <a:prstGeom prst="rect">
            <a:avLst/>
          </a:prstGeom>
        </p:spPr>
      </p:pic>
      <p:sp>
        <p:nvSpPr>
          <p:cNvPr id="10" name="Object 9"/>
          <p:cNvSpPr/>
          <p:nvPr/>
        </p:nvSpPr>
        <p:spPr>
          <a:xfrm>
            <a:off x="3711917" y="3505752"/>
            <a:ext cx="1717880" cy="533267"/>
          </a:xfrm>
          <a:prstGeom prst="rect">
            <a:avLst/>
          </a:prstGeom>
          <a:noFill/>
        </p:spPr>
        <p:txBody>
          <a:bodyPr wrap="square" rtlCol="0" anchor="ctr"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22</a:t>
            </a:r>
            <a:endParaRPr lang="en-US" dirty="0"/>
          </a:p>
        </p:txBody>
      </p:sp>
      <p:sp>
        <p:nvSpPr>
          <p:cNvPr id="11" name="Object 10"/>
          <p:cNvSpPr/>
          <p:nvPr/>
        </p:nvSpPr>
        <p:spPr>
          <a:xfrm>
            <a:off x="3418620" y="4963903"/>
            <a:ext cx="2304474"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EBITDA Margin</a:t>
            </a:r>
            <a:endParaRPr lang="en-US" dirty="0"/>
          </a:p>
        </p:txBody>
      </p:sp>
      <p:pic>
        <p:nvPicPr>
          <p:cNvPr id="12" name="Object 11" descr="">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70613" y="2729659"/>
            <a:ext cx="2104499" cy="2104499"/>
          </a:xfrm>
          <a:prstGeom prst="rect">
            <a:avLst/>
          </a:prstGeom>
        </p:spPr>
      </p:pic>
      <p:pic>
        <p:nvPicPr>
          <p:cNvPr id="13" name="Object 12" descr="">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80005" y="2729659"/>
            <a:ext cx="1095101" cy="1171282"/>
          </a:xfrm>
          <a:prstGeom prst="rect">
            <a:avLst/>
          </a:prstGeom>
        </p:spPr>
      </p:pic>
      <p:sp>
        <p:nvSpPr>
          <p:cNvPr id="14" name="Object 13"/>
          <p:cNvSpPr/>
          <p:nvPr/>
        </p:nvSpPr>
        <p:spPr>
          <a:xfrm>
            <a:off x="6759155" y="3505752"/>
            <a:ext cx="1717880" cy="533267"/>
          </a:xfrm>
          <a:prstGeom prst="rect">
            <a:avLst/>
          </a:prstGeom>
          <a:noFill/>
        </p:spPr>
        <p:txBody>
          <a:bodyPr wrap="square" rtlCol="0" anchor="ctr"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132</a:t>
            </a:r>
            <a:endParaRPr lang="en-US" dirty="0"/>
          </a:p>
        </p:txBody>
      </p:sp>
      <p:sp>
        <p:nvSpPr>
          <p:cNvPr id="15" name="Object 14"/>
          <p:cNvSpPr/>
          <p:nvPr/>
        </p:nvSpPr>
        <p:spPr>
          <a:xfrm>
            <a:off x="6465858" y="4963903"/>
            <a:ext cx="2304474"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Exit Valuation (M)</a:t>
            </a:r>
            <a:endParaRPr lang="en-US" dirty="0"/>
          </a:p>
        </p:txBody>
      </p:sp>
      <p:pic>
        <p:nvPicPr>
          <p:cNvPr id="16" name="Object 15" descr="">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17851" y="2729659"/>
            <a:ext cx="2104499" cy="2104499"/>
          </a:xfrm>
          <a:prstGeom prst="rect">
            <a:avLst/>
          </a:prstGeom>
        </p:spPr>
      </p:pic>
      <p:pic>
        <p:nvPicPr>
          <p:cNvPr id="17" name="Object 16" descr="">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617867" y="2729659"/>
            <a:ext cx="2104499" cy="2104499"/>
          </a:xfrm>
          <a:prstGeom prst="rect">
            <a:avLst/>
          </a:prstGeom>
        </p:spPr>
      </p:pic>
      <p:sp>
        <p:nvSpPr>
          <p:cNvPr id="18" name="Object 17"/>
          <p:cNvSpPr/>
          <p:nvPr/>
        </p:nvSpPr>
        <p:spPr>
          <a:xfrm>
            <a:off x="9806393" y="3505752"/>
            <a:ext cx="1717880" cy="533267"/>
          </a:xfrm>
          <a:prstGeom prst="rect">
            <a:avLst/>
          </a:prstGeom>
          <a:noFill/>
        </p:spPr>
        <p:txBody>
          <a:bodyPr wrap="square" rtlCol="0" anchor="ctr" bIns="0" lIns="0" rIns="0" tIns="0"/>
          <a:lstStyle/>
          <a:p>
            <a:pPr algn="ctr">
              <a:lnSpc>
                <a:spcPts val="4200"/>
              </a:lnSpc>
              <a:buNone/>
            </a:pPr>
            <a:r>
              <a:rPr lang="en-US" sz="3750" spc="-112" kern="0" dirty="0" smtClean="0">
                <a:solidFill>
                  <a:srgbClr val="2a2921"/>
                </a:solidFill>
                <a:latin typeface="Montserrat" pitchFamily="34" charset="0"/>
                <a:ea typeface="Montserrat" pitchFamily="34" charset="-122"/>
                <a:cs typeface="Montserrat" pitchFamily="34" charset="-120"/>
              </a:rPr>
              <a:t>440</a:t>
            </a:r>
            <a:endParaRPr lang="en-US" dirty="0"/>
          </a:p>
        </p:txBody>
      </p:sp>
      <p:sp>
        <p:nvSpPr>
          <p:cNvPr id="19" name="Object 18"/>
          <p:cNvSpPr/>
          <p:nvPr/>
        </p:nvSpPr>
        <p:spPr>
          <a:xfrm>
            <a:off x="9513096" y="4963903"/>
            <a:ext cx="2304474" cy="230328"/>
          </a:xfrm>
          <a:prstGeom prst="rect">
            <a:avLst/>
          </a:prstGeom>
          <a:noFill/>
        </p:spPr>
        <p:txBody>
          <a:bodyPr wrap="square" rtlCol="0" anchor="t" bIns="0" lIns="0" rIns="0" tIns="0"/>
          <a:lstStyle/>
          <a:p>
            <a:pPr algn="ctr">
              <a:lnSpc>
                <a:spcPts val="1814"/>
              </a:lnSpc>
              <a:buNone/>
            </a:pPr>
            <a:r>
              <a:rPr lang="en-US" sz="1440" dirty="0" smtClean="0">
                <a:solidFill>
                  <a:srgbClr val="2a2921"/>
                </a:solidFill>
                <a:latin typeface="Montserrat" pitchFamily="34" charset="0"/>
                <a:ea typeface="Montserrat" pitchFamily="34" charset="-122"/>
                <a:cs typeface="Montserrat" pitchFamily="34" charset="-120"/>
              </a:rPr>
              <a:t>Seed Return</a:t>
            </a:r>
            <a:endParaRPr lang="en-US" dirty="0"/>
          </a:p>
        </p:txBody>
      </p:sp>
    </p:spTree>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76143"/>
            <a:ext cx="12188952" cy="533267"/>
          </a:xfrm>
          <a:prstGeom prst="rect">
            <a:avLst/>
          </a:prstGeom>
          <a:noFill/>
        </p:spPr>
        <p:txBody>
          <a:bodyPr wrap="square" rtlCol="0" anchor="t" bIns="0" lIns="0" rIns="0" tIns="0"/>
          <a:lstStyle/>
          <a:p>
            <a:pPr algn="ctr">
              <a:lnSpc>
                <a:spcPts val="4200"/>
              </a:lnSpc>
              <a:buNone/>
            </a:pPr>
            <a:r>
              <a:rPr lang="en-US" sz="3750" spc="-112" kern="0" dirty="0" smtClean="0">
                <a:solidFill>
                  <a:srgbClr val="ffffff"/>
                </a:solidFill>
                <a:latin typeface="Montserrat" pitchFamily="34" charset="0"/>
                <a:ea typeface="Montserrat" pitchFamily="34" charset="-122"/>
                <a:cs typeface="Montserrat" pitchFamily="34" charset="-120"/>
              </a:rPr>
              <a:t>Funding Roadmap</a:t>
            </a:r>
            <a:endParaRPr lang="en-US" dirty="0"/>
          </a:p>
        </p:txBody>
      </p:sp>
      <p:pic>
        <p:nvPicPr>
          <p:cNvPr id="3" name="Object 2"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3" y="3970932"/>
            <a:ext cx="12207997" cy="38090"/>
          </a:xfrm>
          <a:prstGeom prst="rect">
            <a:avLst/>
          </a:prstGeom>
        </p:spPr>
      </p:pic>
      <p:pic>
        <p:nvPicPr>
          <p:cNvPr id="4" name="Object 3"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06393" y="2576060"/>
            <a:ext cx="19045" cy="1418870"/>
          </a:xfrm>
          <a:prstGeom prst="rect">
            <a:avLst/>
          </a:prstGeom>
        </p:spPr>
      </p:pic>
      <p:pic>
        <p:nvPicPr>
          <p:cNvPr id="5" name="Object 4"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8779" y="3923319"/>
            <a:ext cx="114271" cy="114271"/>
          </a:xfrm>
          <a:prstGeom prst="rect">
            <a:avLst/>
          </a:prstGeom>
        </p:spPr>
      </p:pic>
      <p:pic>
        <p:nvPicPr>
          <p:cNvPr id="6" name="Object 5"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22277" y="3970932"/>
            <a:ext cx="19045" cy="1161759"/>
          </a:xfrm>
          <a:prstGeom prst="rect">
            <a:avLst/>
          </a:prstGeom>
        </p:spPr>
      </p:pic>
      <p:pic>
        <p:nvPicPr>
          <p:cNvPr id="7" name="Object 6" descr="">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74664" y="3923319"/>
            <a:ext cx="114271" cy="114271"/>
          </a:xfrm>
          <a:prstGeom prst="rect">
            <a:avLst/>
          </a:prstGeom>
        </p:spPr>
      </p:pic>
      <p:pic>
        <p:nvPicPr>
          <p:cNvPr id="8" name="Object 7" descr="">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38192" y="2837741"/>
            <a:ext cx="19045" cy="1161759"/>
          </a:xfrm>
          <a:prstGeom prst="rect">
            <a:avLst/>
          </a:prstGeom>
        </p:spPr>
      </p:pic>
      <p:pic>
        <p:nvPicPr>
          <p:cNvPr id="9" name="Object 8" descr="">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90579" y="3923319"/>
            <a:ext cx="114271" cy="114271"/>
          </a:xfrm>
          <a:prstGeom prst="rect">
            <a:avLst/>
          </a:prstGeom>
        </p:spPr>
      </p:pic>
      <p:pic>
        <p:nvPicPr>
          <p:cNvPr id="10" name="Object 9" descr="">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254076" y="3970932"/>
            <a:ext cx="19045" cy="1161759"/>
          </a:xfrm>
          <a:prstGeom prst="rect">
            <a:avLst/>
          </a:prstGeom>
        </p:spPr>
      </p:pic>
      <p:pic>
        <p:nvPicPr>
          <p:cNvPr id="11" name="Object 10" descr="">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206463" y="3923319"/>
            <a:ext cx="114271" cy="114271"/>
          </a:xfrm>
          <a:prstGeom prst="rect">
            <a:avLst/>
          </a:prstGeom>
        </p:spPr>
      </p:pic>
      <p:sp>
        <p:nvSpPr>
          <p:cNvPr id="12" name="Object 11"/>
          <p:cNvSpPr/>
          <p:nvPr/>
        </p:nvSpPr>
        <p:spPr>
          <a:xfrm>
            <a:off x="2249254" y="2452193"/>
            <a:ext cx="133317" cy="133317"/>
          </a:xfrm>
          <a:prstGeom prst="ellipse">
            <a:avLst/>
          </a:prstGeom>
          <a:solidFill>
            <a:srgbClr val="62a8bb"/>
          </a:solidFill>
        </p:spPr>
      </p:sp>
      <p:sp>
        <p:nvSpPr>
          <p:cNvPr id="13" name="Object 12"/>
          <p:cNvSpPr/>
          <p:nvPr/>
        </p:nvSpPr>
        <p:spPr>
          <a:xfrm>
            <a:off x="2477785" y="2403747"/>
            <a:ext cx="1969278" cy="230328"/>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Months 0-6</a:t>
            </a:r>
            <a:endParaRPr lang="en-US" dirty="0"/>
          </a:p>
        </p:txBody>
      </p:sp>
      <p:sp>
        <p:nvSpPr>
          <p:cNvPr id="14" name="Object 13"/>
          <p:cNvSpPr/>
          <p:nvPr/>
        </p:nvSpPr>
        <p:spPr>
          <a:xfrm>
            <a:off x="2477785" y="2719898"/>
            <a:ext cx="1969278" cy="1066533"/>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Seed: $250-300K - MVP with 10-15 dealer closed beta, 2-3 lender integrations, $50M financed volume</a:t>
            </a:r>
            <a:endParaRPr lang="en-US" dirty="0"/>
          </a:p>
        </p:txBody>
      </p:sp>
      <p:sp>
        <p:nvSpPr>
          <p:cNvPr id="15" name="Object 14"/>
          <p:cNvSpPr/>
          <p:nvPr/>
        </p:nvSpPr>
        <p:spPr>
          <a:xfrm>
            <a:off x="4565138" y="5113646"/>
            <a:ext cx="133317" cy="133317"/>
          </a:xfrm>
          <a:prstGeom prst="ellipse">
            <a:avLst/>
          </a:prstGeom>
          <a:solidFill>
            <a:srgbClr val="488cab"/>
          </a:solidFill>
        </p:spPr>
      </p:sp>
      <p:sp>
        <p:nvSpPr>
          <p:cNvPr id="16" name="Object 15"/>
          <p:cNvSpPr/>
          <p:nvPr/>
        </p:nvSpPr>
        <p:spPr>
          <a:xfrm>
            <a:off x="4793686" y="5065129"/>
            <a:ext cx="1906428" cy="230328"/>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Months 15-18</a:t>
            </a:r>
            <a:endParaRPr lang="en-US" dirty="0"/>
          </a:p>
        </p:txBody>
      </p:sp>
      <p:sp>
        <p:nvSpPr>
          <p:cNvPr id="17" name="Object 16"/>
          <p:cNvSpPr/>
          <p:nvPr/>
        </p:nvSpPr>
        <p:spPr>
          <a:xfrm>
            <a:off x="4793686" y="5381279"/>
            <a:ext cx="1906428" cy="853227"/>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Series A: $4-6M - Platform scaling, geographic expansion, team to 20 FTE</a:t>
            </a:r>
            <a:endParaRPr lang="en-US" dirty="0"/>
          </a:p>
        </p:txBody>
      </p:sp>
      <p:sp>
        <p:nvSpPr>
          <p:cNvPr id="18" name="Object 17"/>
          <p:cNvSpPr/>
          <p:nvPr/>
        </p:nvSpPr>
        <p:spPr>
          <a:xfrm>
            <a:off x="6881053" y="2713946"/>
            <a:ext cx="133317" cy="133317"/>
          </a:xfrm>
          <a:prstGeom prst="ellipse">
            <a:avLst/>
          </a:prstGeom>
          <a:solidFill>
            <a:srgbClr val="2e719c"/>
          </a:solidFill>
        </p:spPr>
      </p:sp>
      <p:sp>
        <p:nvSpPr>
          <p:cNvPr id="19" name="Object 18"/>
          <p:cNvSpPr/>
          <p:nvPr/>
        </p:nvSpPr>
        <p:spPr>
          <a:xfrm>
            <a:off x="7109587" y="2665429"/>
            <a:ext cx="1675981" cy="230328"/>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Months 18-20</a:t>
            </a:r>
            <a:endParaRPr lang="en-US" dirty="0"/>
          </a:p>
        </p:txBody>
      </p:sp>
      <p:sp>
        <p:nvSpPr>
          <p:cNvPr id="20" name="Object 19"/>
          <p:cNvSpPr/>
          <p:nvPr/>
        </p:nvSpPr>
        <p:spPr>
          <a:xfrm>
            <a:off x="7109587" y="2981580"/>
            <a:ext cx="1675981" cy="639920"/>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Break-even: EBITDA positive, path to profitability</a:t>
            </a:r>
            <a:endParaRPr lang="en-US" dirty="0"/>
          </a:p>
        </p:txBody>
      </p:sp>
      <p:sp>
        <p:nvSpPr>
          <p:cNvPr id="21" name="Object 20"/>
          <p:cNvSpPr/>
          <p:nvPr/>
        </p:nvSpPr>
        <p:spPr>
          <a:xfrm>
            <a:off x="9196937" y="5113646"/>
            <a:ext cx="133317" cy="133317"/>
          </a:xfrm>
          <a:prstGeom prst="ellipse">
            <a:avLst/>
          </a:prstGeom>
          <a:solidFill>
            <a:srgbClr val="14558c"/>
          </a:solidFill>
        </p:spPr>
      </p:sp>
      <p:sp>
        <p:nvSpPr>
          <p:cNvPr id="22" name="Object 21"/>
          <p:cNvSpPr/>
          <p:nvPr/>
        </p:nvSpPr>
        <p:spPr>
          <a:xfrm>
            <a:off x="9425488" y="5065129"/>
            <a:ext cx="1728355" cy="230328"/>
          </a:xfrm>
          <a:prstGeom prst="rect">
            <a:avLst/>
          </a:prstGeom>
          <a:noFill/>
        </p:spPr>
        <p:txBody>
          <a:bodyPr wrap="square" rtlCol="0" anchor="t" bIns="0" lIns="0" rIns="0" tIns="0"/>
          <a:lstStyle/>
          <a:p>
            <a:pPr algn="l">
              <a:lnSpc>
                <a:spcPts val="1814"/>
              </a:lnSpc>
              <a:buNone/>
            </a:pPr>
            <a:r>
              <a:rPr lang="en-US" sz="1440" dirty="0" smtClean="0">
                <a:solidFill>
                  <a:srgbClr val="ffffff"/>
                </a:solidFill>
                <a:latin typeface="Montserrat" pitchFamily="34" charset="0"/>
                <a:ea typeface="Montserrat" pitchFamily="34" charset="-122"/>
                <a:cs typeface="Montserrat" pitchFamily="34" charset="-120"/>
              </a:rPr>
              <a:t>Year 5</a:t>
            </a:r>
            <a:endParaRPr lang="en-US" dirty="0"/>
          </a:p>
        </p:txBody>
      </p:sp>
      <p:sp>
        <p:nvSpPr>
          <p:cNvPr id="23" name="Object 22"/>
          <p:cNvSpPr/>
          <p:nvPr/>
        </p:nvSpPr>
        <p:spPr>
          <a:xfrm>
            <a:off x="9425488" y="5381279"/>
            <a:ext cx="1728355" cy="426613"/>
          </a:xfrm>
          <a:prstGeom prst="rect">
            <a:avLst/>
          </a:prstGeom>
          <a:noFill/>
        </p:spPr>
        <p:txBody>
          <a:bodyPr wrap="square" rtlCol="0" anchor="t" bIns="0" lIns="0" rIns="0" tIns="0"/>
          <a:lstStyle/>
          <a:p>
            <a:pPr algn="l">
              <a:lnSpc>
                <a:spcPts val="1680"/>
              </a:lnSpc>
              <a:spcBef>
                <a:spcPts val="663"/>
              </a:spcBef>
              <a:buNone/>
            </a:pPr>
            <a:r>
              <a:rPr lang="en-US" sz="1200" dirty="0" smtClean="0">
                <a:solidFill>
                  <a:srgbClr val="ffffff">
                    <a:alpha val="90000"/>
                  </a:srgbClr>
                </a:solidFill>
                <a:latin typeface="Montserrat" pitchFamily="34" charset="0"/>
                <a:ea typeface="Montserrat" pitchFamily="34" charset="-122"/>
                <a:cs typeface="Montserrat" pitchFamily="34" charset="-120"/>
              </a:rPr>
              <a:t>$32M revenue, $9.1M EBITDA, 28% margin</a:t>
            </a:r>
            <a:endParaRPr lang="en-US" dirty="0"/>
          </a:p>
        </p:txBody>
      </p:sp>
    </p:spTree>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6319210" y="476131"/>
            <a:ext cx="5393611" cy="5904024"/>
          </a:xfrm>
          <a:prstGeom prst="rect">
            <a:avLst/>
          </a:prstGeom>
          <a:solidFill>
            <a:srgbClr val="e66922"/>
          </a:solidFill>
        </p:spPr>
      </p:sp>
      <p:pic>
        <p:nvPicPr>
          <p:cNvPr id="3" name="Object 2" descr="agriculture tractor financing">    </p:cNvPr>
          <p:cNvPicPr>
            <a:picLocks noChangeAspect="1"/>
          </p:cNvPicPr>
          <p:nvPr/>
        </p:nvPicPr>
        <p:blipFill>
          <a:blip r:embed="rId1"/>
          <a:srcRect l="19578" r="19578" t="0" b="0"/>
          <a:stretch/>
        </p:blipFill>
        <p:spPr>
          <a:xfrm>
            <a:off x="6319210" y="476131"/>
            <a:ext cx="5393611" cy="5904024"/>
          </a:xfrm>
          <a:prstGeom prst="rect">
            <a:avLst/>
          </a:prstGeom>
        </p:spPr>
      </p:pic>
      <p:sp>
        <p:nvSpPr>
          <p:cNvPr id="4" name="Object 3"/>
          <p:cNvSpPr/>
          <p:nvPr/>
        </p:nvSpPr>
        <p:spPr>
          <a:xfrm>
            <a:off x="226638" y="1407324"/>
            <a:ext cx="5865933" cy="4031163"/>
          </a:xfrm>
          <a:prstGeom prst="rect">
            <a:avLst/>
          </a:prstGeom>
          <a:noFill/>
        </p:spPr>
        <p:txBody>
          <a:bodyPr wrap="square" rtlCol="0" anchor="ctr" bIns="0" lIns="0" rIns="0" tIns="0"/>
          <a:lstStyle/>
          <a:p>
            <a:pPr algn="ctr">
              <a:lnSpc>
                <a:spcPts val="2268"/>
              </a:lnSpc>
              <a:buNone/>
            </a:pPr>
            <a:r>
              <a:rPr lang="en-US" sz="1800" dirty="0" smtClean="0">
                <a:solidFill>
                  <a:srgbClr val="ffffff"/>
                </a:solidFill>
                <a:latin typeface="Montserrat" pitchFamily="34" charset="0"/>
                <a:ea typeface="Montserrat" pitchFamily="34" charset="-122"/>
                <a:cs typeface="Montserrat" pitchFamily="34" charset="-120"/>
              </a:rPr>
              <a:t>In conclusion, this platform represents a transformative opportunity to modernize the $14.6 billion North American agricultural equipment financing industry. By addressing the core pain points of farmers, dealers, and lenders, we can unlock significant efficiency gains, cost savings, and new revenue streams. With our deep domain expertise, defensible moat, and phased go-to-market strategy, we are poised to become the industry's leading digital infrastructure provider. The time is right to revolutionize this fragmented market and deliver a new standard of convenience, transparency, and performance.</a:t>
            </a:r>
            <a:endParaRPr lang="en-US" dirty="0"/>
          </a:p>
        </p:txBody>
      </p:sp>
    </p:spTree>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ags/tag2.xml><?xml version="1.0" encoding="utf-8"?>
<p:tagLst xmlns:a="http://schemas.openxmlformats.org/drawingml/2006/main" xmlns:r="http://schemas.openxmlformats.org/officeDocument/2006/relationships" xmlns:p="http://schemas.openxmlformats.org/presentationml/2006/main"/>
</file>

<file path=ppt/tags/tag3.xml><?xml version="1.0" encoding="utf-8"?>
<p:tagLst xmlns:a="http://schemas.openxmlformats.org/drawingml/2006/main" xmlns:r="http://schemas.openxmlformats.org/officeDocument/2006/relationships" xmlns:p="http://schemas.openxmlformats.org/presentationml/2006/main"/>
</file>

<file path=ppt/tags/tag4.xml><?xml version="1.0" encoding="utf-8"?>
<p:tagLst xmlns:a="http://schemas.openxmlformats.org/drawingml/2006/main" xmlns:r="http://schemas.openxmlformats.org/officeDocument/2006/relationships" xmlns:p="http://schemas.openxmlformats.org/presentationml/2006/main"/>
</file>

<file path=ppt/tags/tag5.xml><?xml version="1.0" encoding="utf-8"?>
<p:tagLst xmlns:a="http://schemas.openxmlformats.org/drawingml/2006/main" xmlns:r="http://schemas.openxmlformats.org/officeDocument/2006/relationships" xmlns:p="http://schemas.openxmlformats.org/presentationml/2006/main"/>
</file>

<file path=ppt/tags/tag6.xml><?xml version="1.0" encoding="utf-8"?>
<p:tagLst xmlns:a="http://schemas.openxmlformats.org/drawingml/2006/main" xmlns:r="http://schemas.openxmlformats.org/officeDocument/2006/relationships" xmlns:p="http://schemas.openxmlformats.org/presentationml/2006/main"/>
</file>

<file path=ppt/tags/tag7.xml><?xml version="1.0" encoding="utf-8"?>
<p:tagLst xmlns:a="http://schemas.openxmlformats.org/drawingml/2006/main" xmlns:r="http://schemas.openxmlformats.org/officeDocument/2006/relationships" xmlns:p="http://schemas.openxmlformats.org/presentationml/2006/main"/>
</file>

<file path=ppt/tags/tag8.xml><?xml version="1.0" encoding="utf-8"?>
<p:tagLst xmlns:a="http://schemas.openxmlformats.org/drawingml/2006/main" xmlns:r="http://schemas.openxmlformats.org/officeDocument/2006/relationships" xmlns:p="http://schemas.openxmlformats.org/presentationml/2006/main"/>
</file>

<file path=ppt/tags/tag9.xml><?xml version="1.0" encoding="utf-8"?>
<p:tagLst xmlns:a="http://schemas.openxmlformats.org/drawingml/2006/main" xmlns:r="http://schemas.openxmlformats.org/officeDocument/2006/relationships" xmlns:p="http://schemas.openxmlformats.org/presentationml/2006/main"/>
</file>

<file path=ppt/tags/tag10.xml><?xml version="1.0" encoding="utf-8"?>
<p:tagLst xmlns:a="http://schemas.openxmlformats.org/drawingml/2006/main" xmlns:r="http://schemas.openxmlformats.org/officeDocument/2006/relationships" xmlns:p="http://schemas.openxmlformats.org/presentationml/2006/main"/>
</file>

<file path=ppt/tags/tag11.xml><?xml version="1.0" encoding="utf-8"?>
<p:tagLst xmlns:a="http://schemas.openxmlformats.org/drawingml/2006/main" xmlns:r="http://schemas.openxmlformats.org/officeDocument/2006/relationships" xmlns:p="http://schemas.openxmlformats.org/presentationml/2006/main"/>
</file>

<file path=ppt/tags/tag12.xml><?xml version="1.0" encoding="utf-8"?>
<p:tagLst xmlns:a="http://schemas.openxmlformats.org/drawingml/2006/main" xmlns:r="http://schemas.openxmlformats.org/officeDocument/2006/relationships" xmlns:p="http://schemas.openxmlformats.org/presentationml/2006/main"/>
</file>

<file path=ppt/tags/tag13.xml><?xml version="1.0" encoding="utf-8"?>
<p:tagLst xmlns:a="http://schemas.openxmlformats.org/drawingml/2006/main" xmlns:r="http://schemas.openxmlformats.org/officeDocument/2006/relationships" xmlns:p="http://schemas.openxmlformats.org/presentationml/2006/main"/>
</file>

<file path=ppt/tags/tag14.xml><?xml version="1.0" encoding="utf-8"?>
<p:tagLst xmlns:a="http://schemas.openxmlformats.org/drawingml/2006/main" xmlns:r="http://schemas.openxmlformats.org/officeDocument/2006/relationships" xmlns:p="http://schemas.openxmlformats.org/presentationml/2006/main"/>
</file>

<file path=ppt/tags/tag15.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1188e2"/>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Beautiful.ai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Revolutionizing Agricultural Equipment Financing</dc:title>
  <dc:subject>Revolutionizing Agricultural Equipment Financing</dc:subject>
  <dc:creator>Vijay gantalamohini</dc:creator>
  <cp:lastModifiedBy>Vijay gantalamohini</cp:lastModifiedBy>
  <cp:revision>1</cp:revision>
  <dcterms:created xsi:type="dcterms:W3CDTF">2025-12-13T14:54:00.312Z</dcterms:created>
  <dcterms:modified xsi:type="dcterms:W3CDTF">2025-12-13T14:54:00.312Z</dcterms:modified>
</cp:coreProperties>
</file>